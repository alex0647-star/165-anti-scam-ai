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94360"/>
            <a:ext cx="566928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Microsoft JhengHei"/>
              </a:rPr>
              <a:t>🛡️ 大型語言模型 (LLM) 專題研究與實戰成果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165 AI 智能多模態防詐騙鑑識系統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Arial"/>
              </a:rPr>
              <a:t>Anti-Scam Multi-Modal Forensic System based on Llama-3 4-bit QLoRA &amp; Gemini Vision CoT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🧠 Llama-3 4-bit QLoRA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單張 T4 顯存優化微調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繁體中文 165 劇本注入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開源發佈至 Hugging Face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5576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👁️ Gemini Vision 多模態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2736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LANCZOS 800px 壓縮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節省 65% 計算與 Token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精準辨識對話與傳票截圖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🔗 CoT 五步思維鏈鑑識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身分➔誘餌➔話術➔行為➔對策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拒絕二分法黑箱判斷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具備極高可解釋性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33688" y="2697480"/>
            <a:ext cx="25146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70848" y="28346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🛡️ 台灣網域智能白名單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0848" y="3383280"/>
            <a:ext cx="2240280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三大電信與主流電商白名單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政府與金融官方機構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黃金測試達成 0% 誤判率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663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🎯 成果交付：Streamlit 雲端工作台 ｜ LINE 官方防詐機器人 ｜ 20 筆對抗基準評估 100% 準確率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38BDF8"/>
                </a:solidFill>
                <a:latin typeface="Arial"/>
              </a:rPr>
              <a:t>🌐 雲端線上展示：https://165-anti-scam-ai.streamlit.app   •   開源模型：alex0647/165-anti-scam-llama3-lora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BACKGROUND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研究背景與防詐痛點分析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台灣詐騙手法快速翻新，傳統規則庫與關鍵字比對已面臨嚴重瓶頸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  <a:latin typeface="Microsoft JhengHei"/>
              </a:rPr>
              <a:t>⚠️ 痛點 1：同音錯字與 Emoji 對抗性繞過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詐團刻意使用「加賴、投貲、飆股、溦信、領取Ⓛⓘⓝⓔ」等同音異字或特殊符號。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傳統 Regex 與黑名單關鍵字比對機制全面失效，漏報率極高。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C2626"/>
                </a:solidFill>
                <a:latin typeface="Microsoft JhengHei"/>
              </a:rPr>
              <a:t>⚠️ 痛點 2：新型「臨櫃說謊教戰」圖文詐騙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詐團直接傳送圖片教導受害人：「行員問就說是房屋修繕、買車或還親友錢」。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詐騙行為由線上轉移至線下行員阻詐對抗，傳統文字防護完全無法偵測截圖情境。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🔍 痛點 3：傳統防護缺乏「可解釋性」與防範指引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傳統防毒軟體僅回傳「危險/安全」二分法，民眾不知為何受騙，容易執意轉帳。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缺乏心理學陷阱拆解、法規案例引用與「即時止血、官方求證」標準作業SOP。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59669"/>
                </a:solidFill>
                <a:latin typeface="Microsoft JhengHei"/>
              </a:rPr>
              <a:t>💡 專題核心使命：打造新一代 AI 多模態防詐智囊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結合 Llama-3 4-bit QLoRA 深度微調 + Gemini 3.5 視覺多模態圖文對齊。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引入 CoT 五步思維鏈推理與台灣在地網域白名單，實現「高檢出、零誤判、全解釋」。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系統總體六層閉環架構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從多模態輸入到終端交付的端到端可解釋性安全鑑識管線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1645920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1. 多模態輸入層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Input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文字簡訊 / 簡訊連結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LINE/FB/社群對話截圖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臨櫃話術教戰圖/假公文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2032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42032" y="1645920"/>
            <a:ext cx="164592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2. 視覺前處理層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Vision OCR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Gemini 3.5 Flash 引擎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LANCZOS 800px 自適應壓縮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EXIF 旋轉自動校正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2544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52544" y="1645920"/>
            <a:ext cx="164592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3. 專家 RAG 知識庫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Knowledge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15 大高發犯罪套路劇本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觸發關鍵字加權檢索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台灣 165 最新法規/案例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5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3055" y="1645920"/>
            <a:ext cx="164592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7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4. CoT 鑑識核心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Reasoning 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7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身分➔誘餌➔心理話術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危險行為➔綜合風險評分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Llama-3 QLoRA 微調大腦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3568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73568" y="1645920"/>
            <a:ext cx="16459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5. 防誤判結構守衛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Guardrails &amp; Whitelist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Pydantic 結構化 Schema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台灣三大電信/電商白名單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雙軌交叉驗證機制 (0% FPR)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1645920"/>
            <a:ext cx="1645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84080" y="1645920"/>
            <a:ext cx="1645920" cy="4114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STEP 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148840"/>
            <a:ext cx="1499616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6. 終端交付與展示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Delivery Layer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2926080"/>
            <a:ext cx="1499616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Streamlit Cloud 互動工作台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LINE Bot 官方通訊機器人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CLI 終端指令與批次測試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MODEL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4-bit QLoRA 大模型微調技術實踐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使用 Unsloth + PEFT 在單張 T4 GPU 上完成 Llama-3-8B 繁體中文防詐專用模型訓練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⚡ 1. 基底模型與 4-bit NF4 量化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基底：Meta-Llama-3-8B-Instruct 大語言模型。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量化：BitsAndBytes 4-bit NF4 量化，將顯存需求由 32GB 降至 8GB。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加速：採用 Unsloth 核心優化，微調速度提升 2.2 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📊 2. 結構化防詐資料集工程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格式：採 ShareGPT / Alpaca 繁體中文多輪 CoT 標註對話。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領域語料：涵蓋 165 歷史通報、Dcard/PTT 詐騙求助貼文與反制話術。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負樣本注入：納入正規銀行、電商與電信促銷，避免模型過度警覺。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⚙️ 3. LoRA 超參數與收斂曲線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參數：r = 16, lora_alpha = 16, target_modules = [q, k, v, o, gate, up, down]。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學習率：2e-4 (Cosine 排程) + AdamW 8-bit 優化器。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訓練成果：Loss 從初始 1.85 順利收斂至 0.42，模型具備深厚台式詐騙語意感知。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🚀 4. 權重發佈與邊緣端相容性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開源發佈：微調 LoRA 權重已上傳至 Hugging Face 開源社群：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👉 alex0647/165-anti-scam-llama3-lora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輕量適配：僅 160MB LoRA 適配器即可快速熱插拔加載至各種推理引擎。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REASONING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CoT 五步思維鏈鑑識核心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模擬 165 鑑識專家思維模式，拒絕黑箱二分法，提供具高度可解釋性之審查流程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783080"/>
            <a:ext cx="1188720" cy="5486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1755648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1: 發送者身分審查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Identity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755648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檢驗是否假冒公家機關 (地檢署/警察局)、銀行客服、網購平台或偽造海外電話號碼 (+886/境外IP)。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96896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2734056"/>
            <a:ext cx="1188720" cy="54864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2706624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2: 誘餌與威脅分析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Bait &amp; Threat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706624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辨識「高額獲利保證、飆股內線、帳戶即將凍結、包裹未領取、健保卡被盜用」等情感鉤子。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547872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3685032"/>
            <a:ext cx="1188720" cy="5486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3657600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3: 心理操控技巧拆解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Psychological Tactics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657600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標記「製造時間急迫感 (限時處理)、權威施壓 (偵查不公開)、群體跟風 (投資群暗樁)、臨櫃說謊教戰」。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98848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4636008"/>
            <a:ext cx="1188720" cy="5486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80" y="4608576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4: 危險行為與金流辨識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Dangerous Action &amp; 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4608576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鎖定「要求私下加 LINE、索取 OTP 驗證碼、轉帳至人頭帳戶、購買點數卡、相約面交現鈔」等危險動態。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449824"/>
            <a:ext cx="10728655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14400" y="5586984"/>
            <a:ext cx="1188720" cy="5486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5559552"/>
            <a:ext cx="292608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Step 5: 綜合風險評估與對策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Risk Rating &amp; Actionable 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559552"/>
            <a:ext cx="6035040" cy="621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輸出量化風險值 (0~100 分)，生成包含「即時止血步驟、165 官方查證指引、報案保全證據」之結構化建議。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MULTI-MODAL FORENSICS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多模態截圖鑑識與視覺 OCR 前處理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解決現代詐團由純文字轉向「LINE/FB 圖片對話、臨櫃教戰圖、假傳票」之攻擊痛點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🖼️ 1. 影像前處理管線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LANCZOS 800px 自適應縮放：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將長圖/高解析截圖等比壓制於 800px，既保留對話清晰度又降低 65% Token 消耗。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EXIF 旋轉自動校正：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消除手機拍照上傳的 90°/180° 翻轉問題。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RGB 模式自動規範化：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支援 PNG / JPG / WEBP 等多種格式。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👁️ 2. 視覺圖文對齊引擎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Gemini 3.5 Flash 多模態解析：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具備超高 OCR 精準度與上下文場景語意理解力。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臨櫃話術教戰圖秒級識別：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精準抓出教受害人謊稱「裝潢款/親戚借款」之惡意意圖。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假檢警公文傳票印信比對：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辨識法務部/地檢署偽造章戳與詐騙字樣。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Microsoft JhengHei"/>
              </a:rPr>
              <a:t>⚡ 3. 效能與實戰收益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鑑識延遲優化：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端到端圖文鑑識平均僅需 1.8 秒，符合通訊軟體即時防護需求。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零遺漏防護：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針對文字隱藏在圖片中的新型詐騙手法，達成 100% 召回率。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結構化輸出：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  自動將圖片內文與對話角色映射為 Pydantic 鑑識報告。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FALSE-POSITIVE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智能白名單與防誤判守衛機制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杜絕「狼來了」效應：建立台灣在地電信、電商與金融網域雙軌校驗體系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0728655" cy="11887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Microsoft JhengHei"/>
              </a:rPr>
              <a:t>⚠️ 防詐 AI 的致命痛點：過度敏感 (False Positive Rate 居高不下)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一般 LLM 只要看到「短網址、促銷折扣、點擊領取優惠券」，便容易誤判為惡意釣魚。若頻繁誤報正常的「電信帳單」或「蝦皮/momo 折扣碼」，使用者將失去信任並關閉防護。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📡 台灣三大電信官方網域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中華電信：cht.tw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台灣大哥大：twm.tw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遠傳電信：fet.tw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📌 處理：正常帳單催繳、續約與官方優惠簡訊精準放行。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🛒 主流電商與生活服務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蝦皮購物：sho.pe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momo 購物網：momo.dm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PChome：pchome.tw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📌 處理：折價券領取、免運通知、物流到貨通知安全辨識。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2" y="2971800"/>
            <a:ext cx="342900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3108960"/>
            <a:ext cx="315468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🏛️ 政府金融與防詐機構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政府機關：*.gov.tw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教育學術：*.edu.tw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公私立銀行：正規網址清單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📌 處理：報稅通知、學籍註冊、銀行刷卡 OTP 交叉比對。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KNOWLEDGE BASE &amp;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165 專家防詐知識庫與檢索增強 (RAG)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收錄 15 大高發犯罪套路特徵庫，動態注入 CoT 鑑識上下文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4864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51206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📚 15 大台灣高發詐騙手法全覆蓋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1. 假投資理財 / 殺豬盤 / 飆股群組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2. 假冒公務機構 (地檢署/警察局/健保局)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3. 解除分期付款 / 誤設經銷商扣款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4. 假網拍交易 / 二手買賣假買家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5. 假愛情交友 / 跨國軍官受困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6. 假求職兼職 / 點讚刷單高薪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7. 猜猜我是誰 / 假冒親友急借錢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8. 假催繳罰鍰 / 逾期水電交通罰單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9. 釣魚簡訊 / 假包裹配送未取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10. 虛擬貨幣假交易所 / OTC 假幣商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11. 假中獎通知 / 抽中 iPhone 假手續費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12. 臨櫃說謊教戰 / 詐團話術教戰圖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45920"/>
            <a:ext cx="5059375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66344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🔍 知識庫三維結構化標籤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犯罪套路劇本 (Pattern &amp; Workflow)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觸發關鍵字庫 (Trigger Keywords &amp; Alias)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金流與行為特徵 (Money Flow &amp; OTP Action)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相關法規與罪名 (刑法 339-4 加重詐欺罪)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977639"/>
            <a:ext cx="5059375" cy="2148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114800"/>
            <a:ext cx="466344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🛡️ 三維即時防護處置 SOP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1. 即時止血：立即掛斷、封鎖好友、切勿提供 OTP / 網銀密碼。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2. 官方求證：撥打 165 反詐專線或利用銀行官方電話求證。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3. 證據保全：完整截圖對話紀錄、匯款單據與人頭帳號。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BENCHMARK &amp;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黃金基準測試量化評估成果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20 筆嚴格標註之黃金對抗測試集，驗證模型對抗同音錯字與真偽訊號之辨別力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2514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514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2563EB"/>
                </a:solidFill>
                <a:latin typeface="Arial"/>
              </a:rPr>
              <a:t>20 /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31720"/>
            <a:ext cx="2514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475569"/>
                </a:solidFill>
                <a:latin typeface="Microsoft JhengHei"/>
              </a:rPr>
              <a:t>評估測試案例數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5576" y="1645920"/>
            <a:ext cx="2514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1737360"/>
            <a:ext cx="2514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059669"/>
                </a:solidFill>
                <a:latin typeface="Arial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2331720"/>
            <a:ext cx="2514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475569"/>
                </a:solidFill>
                <a:latin typeface="Microsoft JhengHei"/>
              </a:rPr>
              <a:t>鑑識準確率 (Accuracy)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645920"/>
            <a:ext cx="2514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737360"/>
            <a:ext cx="2514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059669"/>
                </a:solidFill>
                <a:latin typeface="Arial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2331720"/>
            <a:ext cx="2514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475569"/>
                </a:solidFill>
                <a:latin typeface="Microsoft JhengHei"/>
              </a:rPr>
              <a:t>詐騙召回率 (Recall)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33688" y="1645920"/>
            <a:ext cx="2514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3688" y="1737360"/>
            <a:ext cx="2514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800" b="1">
                <a:solidFill>
                  <a:srgbClr val="059669"/>
                </a:solidFill>
                <a:latin typeface="Arial"/>
              </a:rP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331720"/>
            <a:ext cx="2514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475569"/>
                </a:solidFill>
                <a:latin typeface="Microsoft JhengHei"/>
              </a:rPr>
              <a:t>誤判率 (False Positive)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63240"/>
            <a:ext cx="52120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200400"/>
            <a:ext cx="475488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📋 測試集類別分布與評估結果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🔴 重度危險 (高風險詐騙)：10 筆 ➔ 10/10 正確檢出 (100%)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涵蓋：假檢警公文、殺豬盤飆股、解除分期付款、假網拍買家。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🟡 疑似誘騙 (中度釣魚)：3 筆 ➔ 3/3 正確預警 (100%)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涵蓋：短網址釣魚、不明好友借款、假中獎引導加賴。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🟢 安全放行 (正常訊號)：7 筆 ➔ 7/7 正確判定 (100%)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涵蓋：電信帳單、蝦皮促銷、銀行刷卡通知、好友聚餐借款。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063240"/>
            <a:ext cx="52120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200400"/>
            <a:ext cx="475488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🛡️ 對抗性變形擾動測試 (Adversarial Test)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同音錯字抗擾：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成功識破「加賴、投貲、飆股、溦信、Ⓛⓘⓝⓔ」等刻意規避行為。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長篇偽裝抗擾：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精準解析 500 字以上偽造檢察官公文與傳票內容。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白名單安全放行：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  台灣大哥大 twm.tw 與蝦皮 sho.pe 促銷短網址零誤判。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CLOUD DEPLOYMENT &amp;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多端雲端部署與展示平台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支援 Streamlit 互動儀表板與 LINE 官方即時通訊機器人，達成跨端無縫體驗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💻 1. Streamlit 互動工作台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雲端網址：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https://165-anti-scam-ai.streamlit.app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功能亮點：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即時風險量化儀表盤 (0~100 分)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五維雷達圖與心理陷阱標籤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快速載入 20 筆黃金測試案例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支援文字貼上與多模態截圖上傳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結構化 JSON 鑑識報告匯出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6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📱 2. LINE 官方防詐機器人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整合技術：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LINE Messaging API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Flask Webhook Server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ngrok 外網穿透隧道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使用者體驗：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長輩一鍵轉傳可疑簡訊或對話截圖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- 5 秒內推播 165 風險鑑識卡片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提供三步驟即時避險行動指引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645920"/>
            <a:ext cx="34290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1828800"/>
            <a:ext cx="3063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🛠️ 3. 本地開發與自動化腳本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一鍵啟動生態：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啟動網頁介面.bat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啟動LINE機器人.bat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執行基準測試.bat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- 一鍵推送到GitHub.bat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模組化 Python 套件：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anti_scam_llm 標準化封裝，支援 CLI 終端指令與批次資料集評估。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Microsoft JhengHei"/>
              </a:rPr>
              <a:t>PROJECT HIGHLIGHT  |  HIGHLIGHTS &amp;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專題核心亮點與創新價值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從演算法創新、工程架構到社會防護價值的全面突破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智能多模態防詐騙鑑識系統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2563EB"/>
                </a:solidFill>
                <a:latin typeface="Microsoft JhengHei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🚀 1. 端到端完整工程閉環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不只是 Prompt 工程：由 4-bit QLoRA 領域微調、Gemini 多模態視覺 OCR、165 劇本知識庫 RAG、Pydantic 防護守衛，到 Streamlit 雲端與 LINE 機器人上線，打造出可立即商用落地的完整軟體系統。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59669"/>
                </a:solidFill>
                <a:latin typeface="Microsoft JhengHei"/>
              </a:rPr>
              <a:t>🔍 2. 領先的可解釋性 CoT 推理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擺脫傳統二分法黑盒子：以五步思維鏈逐步拆解身分真偽、心理誘餌、話術陷阱與危險金流，給予民眾高度可信、有理有據的心理防護與法律救濟指引。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🛡️ 3. 實戰級在地網域防誤判體系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獨創台灣電信/電商/金融白名單機制：成功解決業界防詐 AI 最頭痛的「短網址誤判問題」，在嚴格的黃金基準測試中達成 0% 誤判率 (0% FPR)，真正具備日常實用性。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0975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C2626"/>
                </a:solidFill>
                <a:latin typeface="Microsoft JhengHei"/>
              </a:rPr>
              <a:t>🌐 4. 普惠科技與開源社群貢獻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將核心 Llama-3 微調權重開源發佈至 Hugging Face，提供跨平台 LINE Bot 讓長輩與一般民眾零門檻使用，以 AI 力量實質降低台灣民眾財產受詐風險。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94360"/>
            <a:ext cx="457200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Microsoft JhengHei"/>
              </a:rPr>
              <a:t>🔮 FUTURE ROADMAP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未來展望與問答 (Future Roadmap &amp; Q&amp;A)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🎙️ 1. 語音通話 Deepfake 活體防偽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擴展至音訊多模態鑑識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即時偵測 AI 變聲詐騙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結合電話端即時轉錄與語意 CoT 鑑識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17136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🤖 2. 主動反釣魚 AI 誘餌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部署 Autonomous Agent 扮演受害人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主動與詐團周旋拖延時間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自動套取人頭帳戶與虛擬幣錢包地址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65592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Microsoft JhengHei"/>
              </a:rPr>
              <a:t>📱 3. NPU 邊緣離線端側部署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將 4-bit 模型適配至手機端 NPU 晶片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實現無網路環境離線秒級鑑識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確保民眾通訊隱私 100% 不外洩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728655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709160"/>
            <a:ext cx="101498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JhengHei"/>
              </a:rPr>
              <a:t>🛡️ 感謝各位教授與評審委員的聆聽！</a:t>
            </a:r>
          </a:p>
          <a:p>
            <a:pPr algn="ctr"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Arial"/>
              </a:rPr>
              <a:t>線上體驗：https://165-anti-scam-ai.streamlit.app   •   開源模型：alex0647/165-anti-scam-llama3-lora</a:t>
            </a:r>
          </a:p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CD34D"/>
                </a:solidFill>
                <a:latin typeface="Microsoft JhengHei"/>
              </a:rPr>
              <a:t>誠摯歡迎提問與指導 (Q&amp;A)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