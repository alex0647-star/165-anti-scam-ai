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8" r:id="rId11"/>
    <p:sldId id="269" r:id="rId12"/>
    <p:sldId id="270" r:id="rId13"/>
    <p:sldId id="271" r:id="rId14"/>
    <p:sldId id="272" r:id="rId15"/>
    <p:sldId id="273" r:id="rId16"/>
    <p:sldId id="264" r:id="rId17"/>
    <p:sldId id="266" r:id="rId18"/>
    <p:sldId id="267" r:id="rId19"/>
    <p:sldId id="274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31520" y="594360"/>
            <a:ext cx="5669280" cy="438912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0" rIns="182880" bIns="0" rtlCol="0" anchor="ctr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38BDF8"/>
                </a:solidFill>
                <a:latin typeface="Microsoft JhengHei"/>
              </a:rPr>
              <a:t>🛡️ 大型語言模型 (LLM) 專題研究與實戰成果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69848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FFFFF"/>
                </a:solidFill>
                <a:latin typeface="Microsoft JhengHei"/>
              </a:rPr>
              <a:t>165 AI 智能多模態防詐騙鑑識系統</a:t>
            </a:r>
          </a:p>
          <a:p>
            <a:pPr algn="l">
              <a:spcAft>
                <a:spcPts val="400"/>
              </a:spcAft>
            </a:pPr>
            <a:r>
              <a:rPr sz="1350" b="1">
                <a:solidFill>
                  <a:srgbClr val="38BDF8"/>
                </a:solidFill>
                <a:latin typeface="Arial"/>
              </a:rPr>
              <a:t>Anti-Scam Multi-Modal Forensic System based on Llama-3 4-bit QLoRA, Gemini Vision &amp; Local RapidOCR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697480"/>
            <a:ext cx="2514600" cy="22402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68680" y="283464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🧠 Llama-3 4-bit QLoRA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383280"/>
            <a:ext cx="2240280" cy="1417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單張 T4 顯存優化微調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繁體中文 165 劇本注入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開源發佈至 Hugging Face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65576" y="2697480"/>
            <a:ext cx="2514600" cy="22402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02736" y="283464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👁️ 三層式高可用視覺 OCR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02736" y="3383280"/>
            <a:ext cx="2240280" cy="1417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Gemini Vision 多模型切換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內建本地 RapidOCR 零配額限制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永不發生 HTTP 429/503 中斷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2697480"/>
            <a:ext cx="2514600" cy="22402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36792" y="283464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🔗 CoT 五步思維鏈鑑識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36792" y="3383280"/>
            <a:ext cx="2240280" cy="1417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身分➔誘餌➔話術➔行為➔對策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識破斜線路徑偽裝與木馬簡訊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具備極高可解釋性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33688" y="2697480"/>
            <a:ext cx="2514600" cy="22402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070848" y="283464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🛡️ 180+ 網域白名單與轉址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70848" y="3383280"/>
            <a:ext cx="2240280" cy="1417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180+ 政府/金融/人壽/電信白名單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實時短網址 301/302 落地追蹤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黃金測試達成 0% 誤判率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16636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🎯 成果交付：Streamlit 雲端工作台 ｜ LINE 支援文字與截圖機器人 (@325readm) ｜ 20 筆基準評估 100% 準確率</a:t>
            </a:r>
          </a:p>
          <a:p>
            <a:pPr algn="l">
              <a:spcAft>
                <a:spcPts val="400"/>
              </a:spcAft>
            </a:pPr>
            <a:r>
              <a:rPr sz="1150" b="1">
                <a:solidFill>
                  <a:srgbClr val="38BDF8"/>
                </a:solidFill>
                <a:latin typeface="Arial"/>
              </a:rPr>
              <a:t>🌐 雲端線上展示：https://165-anti-scam-ai.streamlit.app   •   LINE 好友連結：https://line.me/R/ti/p/@325readm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3EB"/>
                </a:solidFill>
                <a:latin typeface="Microsoft JhengHei"/>
              </a:rPr>
              <a:t>PROJECT HIGHLIGHT  |  BACKGROUND &amp; 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研究背景與新型態防詐痛點分析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台灣詐騙手法快速翻新，從同音變形字、短網址路徑偽裝到木馬病毒簡訊全面演化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165 AI 智能多模態防詐騙鑑識系統  •  專題成果簡報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73952"/>
            <a:ext cx="18589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2563EB"/>
                </a:solidFill>
                <a:latin typeface="Microsoft JhengHei"/>
              </a:rPr>
              <a:t>2 /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0120" y="1783080"/>
            <a:ext cx="475488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DC2626"/>
                </a:solidFill>
                <a:latin typeface="Microsoft JhengHei"/>
              </a:rPr>
              <a:t>⚠️ 痛點 1：變形字繞過、短網址偽裝與木馬跳板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詐團使用「加下我 L1ne、投貲」變形字規避電信過濾，或以「t.ly/mvdis.gov.tw」斜線路徑偽裝假冒政府監理站。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更利用已停用之公開短網址 (goo.gl) 偽冒黑貓簽收單與聚會照片，植入 APK 木馬盜刷小額付費。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77639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60120" y="4114800"/>
            <a:ext cx="475488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DC2626"/>
                </a:solidFill>
                <a:latin typeface="Microsoft JhengHei"/>
              </a:rPr>
              <a:t>⚠️ 痛點 2：新型「臨櫃說謊教戰」與「比賽投票盜號」截圖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詐團傳送截圖教導被害人：「行員問就說是裝潢款」，或盜用親友帳號傳送「小朋友繪畫比賽幫投14號 (.top/.vip 網址)」。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傳統純文字防詐工具無法讀取對話截圖，且單一雲端 OCR 容易因免費配額耗盡 (HTTP 429) 而失效。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645920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46520" y="1783080"/>
            <a:ext cx="475488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D97706"/>
                </a:solidFill>
                <a:latin typeface="Microsoft JhengHei"/>
              </a:rPr>
              <a:t>🔍 痛點 3：傳統防護缺乏「可解釋性」與官方短網址誤判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傳統防毒僅回傳「危險/安全」，民眾不知破綻在哪；同時常將合法企業短網址（如台哥大 twm5g.co、法國巴黎人壽 cardif.com.tw）誤判為高風險。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缺乏心理戰術拆解與即時止血、關閉電信小額付費之標準作業 SOP。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977639"/>
            <a:ext cx="5212080" cy="214884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46520" y="4114800"/>
            <a:ext cx="475488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59669"/>
                </a:solidFill>
                <a:latin typeface="Microsoft JhengHei"/>
              </a:rPr>
              <a:t>💡 專題核心使命：打造高可用 AI 多模態防詐智囊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結合 Llama-3 4-bit QLoRA + 三層式高可用視覺 OCR (Gemini Vision + 本地 RapidOCR + 雲端備援)。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引入 CoT 五步思維鏈與 180+ 台灣官方網域白名單暨實時轉址追蹤，實現「高檢出、零誤判、永不掉線」。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3EB"/>
                </a:solidFill>
                <a:latin typeface="Microsoft JhengHei"/>
              </a:rPr>
              <a:t>PROJECT HIGHLIGHT  |  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系統總體六層閉環架構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從多模態圖文輸入、三層式 OCR、實時短網址展開到終端交付的端到端安全鑑識管線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165 AI 智能多模態防詐騙鑑識系統  •  專題成果簡報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73952"/>
            <a:ext cx="18589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2563EB"/>
                </a:solidFill>
                <a:latin typeface="Microsoft JhengHei"/>
              </a:rPr>
              <a:t>3 /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164592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31520" y="1645920"/>
            <a:ext cx="1645920" cy="4114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STEP 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148840"/>
            <a:ext cx="1499616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1. 多模態輸入層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Arial"/>
              </a:rPr>
              <a:t>Input Layer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926080"/>
            <a:ext cx="1499616" cy="3017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可疑簡訊 / 短網址連結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LINE/iMessage 對話截圖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臨櫃教戰圖 / 投票拉票圖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42032" y="1645920"/>
            <a:ext cx="164592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542032" y="1645920"/>
            <a:ext cx="1645920" cy="41148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STEP 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15184" y="2148840"/>
            <a:ext cx="1499616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2. 三層視覺 OCR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Arial"/>
              </a:rPr>
              <a:t>3-Tier Vision OCR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15184" y="2926080"/>
            <a:ext cx="1499616" cy="3017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Gemini 2.0/2.5 多模型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本地 RapidOCR (零配額限制)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LANCZOS 壓縮與雲端備援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52544" y="1645920"/>
            <a:ext cx="164592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352544" y="1645920"/>
            <a:ext cx="164592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STEP 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25696" y="2148840"/>
            <a:ext cx="1499616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3. 165 RAG 知識庫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Arial"/>
              </a:rPr>
              <a:t>Knowledge Engine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25696" y="2926080"/>
            <a:ext cx="1499616" cy="3017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15+ 高發犯罪套路劇本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涵蓋木馬簡訊/iMessage引流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觸發關鍵字與變形字檢索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5" y="1645920"/>
            <a:ext cx="164592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163055" y="1645920"/>
            <a:ext cx="1645920" cy="4114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STEP 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36207" y="2148840"/>
            <a:ext cx="1499616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4. CoT 鑑識核心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Arial"/>
              </a:rPr>
              <a:t>Reasoning Core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36207" y="2926080"/>
            <a:ext cx="1499616" cy="3017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身分➔網域➔話術➔行為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實時短網址 301/302 追蹤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識破斜線路徑偽裝陷阱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73568" y="1645920"/>
            <a:ext cx="164592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973568" y="1645920"/>
            <a:ext cx="1645920" cy="41148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STEP 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0" y="2148840"/>
            <a:ext cx="1499616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5. 防誤判結構守衛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Arial"/>
              </a:rPr>
              <a:t>Guardrails &amp; Whitelist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0" y="2926080"/>
            <a:ext cx="1499616" cy="3017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Pydantic 結構化 Schema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180+ 台灣官方網域白名單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封鎖公開短網址 (goo.gl/t.ly)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784080" y="1645920"/>
            <a:ext cx="164592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9784080" y="1645920"/>
            <a:ext cx="1645920" cy="4114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STEP 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57232" y="2148840"/>
            <a:ext cx="1499616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6. 終端交付與展示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Arial"/>
              </a:rPr>
              <a:t>Delivery Layer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57232" y="2926080"/>
            <a:ext cx="1499616" cy="3017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Streamlit 狀態持久化工作台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LINE Bot 支援圖片與文字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CLI 終端與 20 筆基準測試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3EB"/>
                </a:solidFill>
                <a:latin typeface="Microsoft JhengHei"/>
              </a:rPr>
              <a:t>PROJECT HIGHLIGHT  |  MODEL FINE-TUNING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4-bit QLoRA 大模型微調技術實踐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使用 Unsloth + PEFT 在單張 T4 GPU 上完成 Llama-3-8B 繁體中文防詐專用模型訓練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165 AI 智能多模態防詐騙鑑識系統  •  專題成果簡報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73952"/>
            <a:ext cx="18589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2563EB"/>
                </a:solidFill>
                <a:latin typeface="Microsoft JhengHei"/>
              </a:rPr>
              <a:t>4 /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0120" y="1783080"/>
            <a:ext cx="475488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⚡ 1. 基底模型與 4-bit NF4 量化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基底：Meta-Llama-3-8B-Instruct 大語言模型。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量化：BitsAndBytes 4-bit NF4 量化，將顯存需求由 32GB 降至 8GB。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加速：採用 Unsloth 核心優化，微調速度提升 2.2 倍。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645920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46520" y="1783080"/>
            <a:ext cx="475488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📊 2. 結構化防詐資料集工程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格式：採 ShareGPT / Alpaca 繁體中文多輪 CoT 標註對話。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領域語料：涵蓋 165 歷史通報、Dcard/PTT 詐騙求助貼文與反制話術。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負樣本注入：納入正規銀行、人壽保單、電商與電信促銷，避免過度警覺。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977639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60120" y="4114800"/>
            <a:ext cx="475488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⚙️ 3. LoRA 超參數與收斂曲線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參數：r = 16, lora_alpha = 16, target_modules = [q, k, v, o, gate, up, down]。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學習率：2e-4 (Cosine 排程) + AdamW 8-bit 優化器。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訓練成果：Loss 從初始 1.85 順利收斂至 0.42，模型具備深厚台式詐騙語意感知。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977639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46520" y="4114800"/>
            <a:ext cx="475488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🚀 4. 權重發佈與邊緣端相容性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開源發佈：微調 LoRA 權重已上傳至 Hugging Face 開源社群：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  👉 alex0647/165-anti-scam-llama3-lora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輕量適配：僅 160MB LoRA 適配器即可快速熱插拔加載至各種推理引擎。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3EB"/>
                </a:solidFill>
                <a:latin typeface="Microsoft JhengHei"/>
              </a:rPr>
              <a:t>PROJECT HIGHLIGHT  |  REASONING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CoT 五步思維鏈鑑識核心与新型態破綻攔截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模擬 165 鑑識專家思維模式，精準識破短網址偽裝、iMessage 引流與木馬病毒簡訊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165 AI 智能多模態防詐騙鑑識系統  •  專題成果簡報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73952"/>
            <a:ext cx="18589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2563EB"/>
                </a:solidFill>
                <a:latin typeface="Microsoft JhengHei"/>
              </a:rPr>
              <a:t>5 /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10728655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14400" y="1783080"/>
            <a:ext cx="1188720" cy="54864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icrosoft JhengHe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1755648"/>
            <a:ext cx="2926080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Step 1: 發送者與通道審查</a:t>
            </a:r>
          </a:p>
          <a:p>
            <a:pPr algn="l">
              <a:spcAft>
                <a:spcPts val="400"/>
              </a:spcAft>
            </a:pPr>
            <a:r>
              <a:rPr sz="850" b="0">
                <a:solidFill>
                  <a:srgbClr val="475569"/>
                </a:solidFill>
                <a:latin typeface="Arial"/>
              </a:rPr>
              <a:t>Identity &amp; Channel Check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1755648"/>
            <a:ext cx="6035040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檢驗是否冒名公家機關、銀行信貸（如永豐貸）、黑貓宅急便，或使用中國網易免費信箱 (@126.com) 群發 iMessage。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596896"/>
            <a:ext cx="10728655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914400" y="2734056"/>
            <a:ext cx="1188720" cy="548640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icrosoft JhengHe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40280" y="2706624"/>
            <a:ext cx="2926080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Step 2: 網域與短網址解構</a:t>
            </a:r>
          </a:p>
          <a:p>
            <a:pPr algn="l">
              <a:spcAft>
                <a:spcPts val="400"/>
              </a:spcAft>
            </a:pPr>
            <a:r>
              <a:rPr sz="850" b="0">
                <a:solidFill>
                  <a:srgbClr val="475569"/>
                </a:solidFill>
                <a:latin typeface="Arial"/>
              </a:rPr>
              <a:t>Domain &amp; Redirect Forensics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2706624"/>
            <a:ext cx="6035040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實時展開短網址轉址目標；識破斜線路徑偽裝 (t.ly/mvdis.gov.tw)、高風險頂級網域 (.top/.vip) 與停用縮網址 (goo.gl)。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547872"/>
            <a:ext cx="10728655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914400" y="3685032"/>
            <a:ext cx="1188720" cy="54864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icrosoft JhengHe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40280" y="3657600"/>
            <a:ext cx="2926080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Step 3: 心理操控話術拆解</a:t>
            </a:r>
          </a:p>
          <a:p>
            <a:pPr algn="l">
              <a:spcAft>
                <a:spcPts val="400"/>
              </a:spcAft>
            </a:pPr>
            <a:r>
              <a:rPr sz="850" b="0">
                <a:solidFill>
                  <a:srgbClr val="475569"/>
                </a:solidFill>
                <a:latin typeface="Arial"/>
              </a:rPr>
              <a:t>Psychological Tactics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3657600"/>
            <a:ext cx="6035040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標記「親友比賽拉票人情綁架」、「裝熟認親 (你把我刪了嗎/加下我 L1ne)」、「通訊錄跳板直呼真名傳聚會照片」。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498848"/>
            <a:ext cx="10728655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914400" y="4636008"/>
            <a:ext cx="1188720" cy="548640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icrosoft JhengHe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40280" y="4608576"/>
            <a:ext cx="2926080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Step 4: 危險行為與木馬辨識</a:t>
            </a:r>
          </a:p>
          <a:p>
            <a:pPr algn="l">
              <a:spcAft>
                <a:spcPts val="400"/>
              </a:spcAft>
            </a:pPr>
            <a:r>
              <a:rPr sz="850" b="0">
                <a:solidFill>
                  <a:srgbClr val="475569"/>
                </a:solidFill>
                <a:latin typeface="Arial"/>
              </a:rPr>
              <a:t>Dangerous Action &amp; Malware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4608576"/>
            <a:ext cx="6035040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鎖定「回復 1 啟動連結解鎖」、「誘導加私人 LINE ID」、「輸入 LINE 帳密與 OTP」、「下載 APK 木馬盜刷小額付費」。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5449824"/>
            <a:ext cx="10728655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914400" y="5586984"/>
            <a:ext cx="1188720" cy="54864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icrosoft JhengHei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40280" y="5559552"/>
            <a:ext cx="2926080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Step 5: 綜合風險評估與對策</a:t>
            </a:r>
          </a:p>
          <a:p>
            <a:pPr algn="l">
              <a:spcAft>
                <a:spcPts val="400"/>
              </a:spcAft>
            </a:pPr>
            <a:r>
              <a:rPr sz="850" b="0">
                <a:solidFill>
                  <a:srgbClr val="475569"/>
                </a:solidFill>
                <a:latin typeface="Arial"/>
              </a:rPr>
              <a:t>Risk Rating &amp; Actionable Plan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0" y="5559552"/>
            <a:ext cx="6035040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輸出量化風險值 (0~100 分)，生成「切勿回覆 1 / 切勿加 LINE / 關閉電信小額付費 / 回報垃圾訊息」之具體處置指引。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3EB"/>
                </a:solidFill>
                <a:latin typeface="Microsoft JhengHei"/>
              </a:rPr>
              <a:t>PROJECT HIGHLIGHT  |  MULTI-MODAL FORENSICS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三層式高可用視覺 OCR 與多模態截圖鑑識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結合 Gemini Vision 與本地端 RapidOCR ONNX 神經網路，徹底根治 API 配額上限 (HTTP 429)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165 AI 智能多模態防詐騙鑑識系統  •  專題成果簡報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73952"/>
            <a:ext cx="18589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2563EB"/>
                </a:solidFill>
                <a:latin typeface="Microsoft JhengHei"/>
              </a:rPr>
              <a:t>6 /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342900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1828800"/>
            <a:ext cx="306324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563EB"/>
                </a:solidFill>
                <a:latin typeface="Microsoft JhengHei"/>
              </a:rPr>
              <a:t>🖼️ 1. 影像最佳化前處理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LANCZOS 1000px 自適應縮放：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  將高解析長截圖等比例壓縮並轉為輕量 JPEG，既保留網址與小字清晰度，又大幅降低傳輸延遲。</a:t>
            </a:r>
          </a:p>
          <a:p>
            <a:pPr algn="l">
              <a:spcAft>
                <a:spcPts val="400"/>
              </a:spcAft>
            </a:pPr>
            <a:endParaRPr sz="1050" b="0">
              <a:solidFill>
                <a:srgbClr val="0F172A"/>
              </a:solidFill>
              <a:latin typeface="Microsoft JhengHei"/>
            </a:endParaRP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跨平台格式相容：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  完整支援網頁拖曳上傳 (PNG / JPG / JPEG) 與 LINE 聊天室圖片訊息即時下載解析。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9976" y="1645920"/>
            <a:ext cx="342900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62856" y="1828800"/>
            <a:ext cx="306324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563EB"/>
                </a:solidFill>
                <a:latin typeface="Microsoft JhengHei"/>
              </a:rPr>
              <a:t>👁️ 2. 三層式高可用 OCR 架構</a:t>
            </a: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• 第一層：Gemini Vision 多模型調度</a:t>
            </a: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  依序調用 gemini-2.0-flash、flash-lite、1.5-flash 與 2.5-flash。</a:t>
            </a:r>
          </a:p>
          <a:p>
            <a:pPr algn="l">
              <a:spcAft>
                <a:spcPts val="400"/>
              </a:spcAft>
            </a:pPr>
            <a:endParaRPr sz="1019" b="0">
              <a:solidFill>
                <a:srgbClr val="0F172A"/>
              </a:solidFill>
              <a:latin typeface="Microsoft JhengHei"/>
            </a:endParaRP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• 第二層：本地端 RapidOCR 神經網路</a:t>
            </a: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  內建 ONNX Runtime 離線 OCR 引擎，免 API Key、零配額限制 (&lt;0.8秒)，完美免疫 HTTP 429 配額耗盡問題！</a:t>
            </a:r>
          </a:p>
          <a:p>
            <a:pPr algn="l">
              <a:spcAft>
                <a:spcPts val="400"/>
              </a:spcAft>
            </a:pPr>
            <a:endParaRPr sz="1019" b="0">
              <a:solidFill>
                <a:srgbClr val="0F172A"/>
              </a:solidFill>
              <a:latin typeface="Microsoft JhengHei"/>
            </a:endParaRP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• 第三層：多語系雲端 OCR 自動備援。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1645920"/>
            <a:ext cx="342900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11312" y="1828800"/>
            <a:ext cx="306324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563EB"/>
                </a:solidFill>
                <a:latin typeface="Microsoft JhengHei"/>
              </a:rPr>
              <a:t>⚡ 3. 實戰截圖鑑識場景</a:t>
            </a: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• 假親友比賽投票截圖：</a:t>
            </a: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  秒抓圖中 t5.clsuenfd5.top 釣魚網址與「幫我投14號」盜號話術。</a:t>
            </a:r>
          </a:p>
          <a:p>
            <a:pPr algn="l">
              <a:spcAft>
                <a:spcPts val="400"/>
              </a:spcAft>
            </a:pPr>
            <a:endParaRPr sz="1019" b="0">
              <a:solidFill>
                <a:srgbClr val="0F172A"/>
              </a:solidFill>
              <a:latin typeface="Microsoft JhengHei"/>
            </a:endParaRP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• iMessage 垃圾簡訊截圖：</a:t>
            </a: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  精準讀取「永豐貸、加下我 L1ne、內部漲停票」與「回報垃圾訊息」提示。</a:t>
            </a:r>
          </a:p>
          <a:p>
            <a:pPr algn="l">
              <a:spcAft>
                <a:spcPts val="400"/>
              </a:spcAft>
            </a:pPr>
            <a:endParaRPr sz="1019" b="0">
              <a:solidFill>
                <a:srgbClr val="0F172A"/>
              </a:solidFill>
              <a:latin typeface="Microsoft JhengHei"/>
            </a:endParaRP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• 木馬病毒簡訊與臨櫃教戰圖：</a:t>
            </a: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  100% 攔截 goo.gl 假包裹簽收單與欺瞞行員教戰守則。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3EB"/>
                </a:solidFill>
                <a:latin typeface="Microsoft JhengHei"/>
              </a:rPr>
              <a:t>PROJECT HIGHLIGHT  |  FALSE-POSITIVE GUARDRAILS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185+ 台灣官方網域白名單、斷行網址縫合與轉址核驗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杜絕「狼來了」效應：結合斷行裸網址自動縫合、HTTP 302 / Meta-Refresh 轉址追蹤與 185+ 白名單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165 AI 智能多模態防詐騙鑑識系統  •  專題成果簡報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73952"/>
            <a:ext cx="18589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2563EB"/>
                </a:solidFill>
                <a:latin typeface="Microsoft JhengHei"/>
              </a:rPr>
              <a:t>7 /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10728655" cy="118872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0120" y="1737360"/>
            <a:ext cx="102412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45309"/>
                </a:solidFill>
                <a:latin typeface="Microsoft JhengHei"/>
              </a:rPr>
              <a:t>⚠️ 防詐 AI 的兩難挑戰：如何同時「放行合法官方短網址」並「攔截偽裝短網址」？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本系統獨創【跨行斷裂網址縫合 + HTTP 302 / Meta-Refresh 轉址追蹤 + 185+ 白名單】：對台哥大商城 (twm5g.my ➔ myfone.com.tw) 與經濟部 iPAS 考試通知 (bsms.tw/oCW9Bo ➔ ipd.nat.gov.tw) 精準放行；對偽裝短網址則嚴格攔截！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971800"/>
            <a:ext cx="3429000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8680" y="3108960"/>
            <a:ext cx="3154680" cy="2834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EB"/>
                </a:solidFill>
                <a:latin typeface="Microsoft JhengHei"/>
              </a:rPr>
              <a:t>🏦 金融銀行與人壽保險 (60+)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30+ 金控銀行：cathaybk.com.tw、fubon.com、ctbcbank.com、esunbank.com.tw 等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人壽保險官網：法國巴黎人壽 (cardif.com.tw)、國泰/南山/新光/台灣人壽等</a:t>
            </a:r>
          </a:p>
          <a:p>
            <a:pPr algn="l">
              <a:spcAft>
                <a:spcPts val="400"/>
              </a:spcAft>
            </a:pPr>
            <a:endParaRPr sz="1000" b="0">
              <a:solidFill>
                <a:srgbClr val="0F172A"/>
              </a:solidFill>
              <a:latin typeface="Microsoft JhengHei"/>
            </a:endParaRP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📌 保單通知與官方活動精準判為安全 (5分)。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9976" y="2971800"/>
            <a:ext cx="3429000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17136" y="3108960"/>
            <a:ext cx="3154680" cy="2834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EB"/>
                </a:solidFill>
                <a:latin typeface="Microsoft JhengHei"/>
              </a:rPr>
              <a:t>📡 電信、電商、交通與民生 (80+)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電信與企業簡訊短網址：twm5g.co、twm5g.my (台哥大商城)、bsms.tw (互動資通/iPAS)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電商外送售票：shopee.tw、sho.pe、momo.dm、fdp.li、kktix.cc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民生物流：taipower.com.tw、黑貓 (t-cat.com.tw)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28432" y="2971800"/>
            <a:ext cx="3429000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165592" y="3108960"/>
            <a:ext cx="3154680" cy="2834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EB"/>
                </a:solidFill>
                <a:latin typeface="Microsoft JhengHei"/>
              </a:rPr>
              <a:t>🏛️ TWNIC 審核網域與防偽邊界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台灣官方後綴：*.gov.tw、*.edu.tw、*.org.tw、*.com.tw、*.net.tw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嚴格邊界檢查：必須位於第一個斜線「/」之前的主機名稱結尾</a:t>
            </a:r>
          </a:p>
          <a:p>
            <a:pPr algn="l">
              <a:spcAft>
                <a:spcPts val="400"/>
              </a:spcAft>
            </a:pPr>
            <a:endParaRPr sz="1000" b="0">
              <a:solidFill>
                <a:srgbClr val="0F172A"/>
              </a:solidFill>
              <a:latin typeface="Microsoft JhengHei"/>
            </a:endParaRP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📌 徹底識破 t.ly/mvdis.gov.tw 偽裝路徑！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3EB"/>
                </a:solidFill>
                <a:latin typeface="Microsoft JhengHei"/>
              </a:rPr>
              <a:t>PROJECT HIGHLIGHT  |  KNOWLEDGE BASE &amp;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警政署 165 官網 API 即時同步與防詐知識庫 (RAG)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直連警政署 165 全民防騙網 (165.npa.gov.tw) 官方 API，即時同步 439+ 篇公告與涉詐 LINE ID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165 AI 智能多模態防詐騙鑑識系統  •  專題成果簡報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73952"/>
            <a:ext cx="18589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2563EB"/>
                </a:solidFill>
                <a:latin typeface="Microsoft JhengHei"/>
              </a:rPr>
              <a:t>8 /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548640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1828800"/>
            <a:ext cx="512064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📚 台灣高發與最新實戰詐騙手法全覆蓋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1. 惡意木馬病毒簡訊 (假黑貓包裹簽收單 / 假聚會照片 + goo.gl)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2. 假冒政府監理站/水電催繳 (t.ly/mvdis.gov.tw + 回復 1 解鎖)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3. 假親友比賽拉票釣魚盜號 (小朋友繪畫比賽幫投14號 + .top)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4. iMessage 垃圾簡訊引流 (假永豐貸 / 裝熟加 L1ne / 內部漲停票)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5. 假投資理財 / 飆股群組 / 臨櫃匯款說謊教戰守則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6. 假冒公務機構 (地檢署/警察局/健保卡鎖卡監管帳戶)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7. 解除分期付款 / 偽冒知名品牌免費信箱 (@yahoo.co.jp)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8. 【165官網同步】假冒政府「普發現金一萬元」釣魚簡訊 (認明 111 短碼)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9. 【165官網同步】一頁式詐騙廣告與超商幽靈包裹 / 舊衣回收引流加 LINE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10. 【165官網 API】實時連線 queryLineId 查驗警方通報涉詐 LINE ID (如 peakchaser116)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645920"/>
            <a:ext cx="5059375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83680" y="1783080"/>
            <a:ext cx="466344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🔍 知識庫多維結構化檢索標籤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犯罪套路劇本 (Pattern &amp; Attack Chain)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觸發關鍵字與變形字庫 (如 L1ne、投.貲、賴我)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網域與發信通道特徵 (.top/.vip、@126.com、goo.gl)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心理操控戰術標籤 (通訊錄跳板、人情綁架、時間施壓)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3977639"/>
            <a:ext cx="5059375" cy="214884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83680" y="4114800"/>
            <a:ext cx="466344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59669"/>
                </a:solidFill>
                <a:latin typeface="Microsoft JhengHei"/>
              </a:rPr>
              <a:t>🛡️ 客製化精準防護處置 SOP</a:t>
            </a:r>
          </a:p>
          <a:p>
            <a:pPr algn="l">
              <a:spcAft>
                <a:spcPts val="400"/>
              </a:spcAft>
            </a:pPr>
            <a:r>
              <a:rPr sz="980" b="0">
                <a:solidFill>
                  <a:srgbClr val="0F172A"/>
                </a:solidFill>
                <a:latin typeface="Microsoft JhengHei"/>
              </a:rPr>
              <a:t>• 針對木馬簡訊：指導立即開啟飛航模式、致電電信商關閉「小額付費代收」。</a:t>
            </a:r>
          </a:p>
          <a:p>
            <a:pPr algn="l">
              <a:spcAft>
                <a:spcPts val="400"/>
              </a:spcAft>
            </a:pPr>
            <a:r>
              <a:rPr sz="980" b="0">
                <a:solidFill>
                  <a:srgbClr val="0F172A"/>
                </a:solidFill>
                <a:latin typeface="Microsoft JhengHei"/>
              </a:rPr>
              <a:t>• 針對 iMessage 釣魚：指導切勿回覆 1、開啟「過濾未知寄件人」並回報垃圾訊息。</a:t>
            </a:r>
          </a:p>
          <a:p>
            <a:pPr algn="l">
              <a:spcAft>
                <a:spcPts val="400"/>
              </a:spcAft>
            </a:pPr>
            <a:r>
              <a:rPr sz="980" b="0">
                <a:solidFill>
                  <a:srgbClr val="0F172A"/>
                </a:solidFill>
                <a:latin typeface="Microsoft JhengHei"/>
              </a:rPr>
              <a:t>• 針對親友拉票盜號：指導絕對不可輸入 LINE 帳密與簡訊 OTP 認證碼。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3EB"/>
                </a:solidFill>
                <a:latin typeface="Microsoft JhengHei"/>
              </a:rPr>
              <a:t>PROJECT HIGHLIGHT  |  CLOUD DEPLOYMENT &amp; DEMOS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多端雲端部署與展示平台升級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Streamlit 狀態持久化互動工作台 ＋ 支援文字與截圖鑑識之 LINE 官方防詐機器人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165 AI 智能多模態防詐騙鑑識系統  •  專題成果簡報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73952"/>
            <a:ext cx="18589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2563EB"/>
                </a:solidFill>
                <a:latin typeface="Microsoft JhengHei"/>
              </a:rPr>
              <a:t>9 /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342900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1828800"/>
            <a:ext cx="306324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💻 1. Streamlit 互動工作台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雲端網址：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https://165-anti-scam-ai.streamlit.app</a:t>
            </a:r>
          </a:p>
          <a:p>
            <a:pPr algn="l">
              <a:spcAft>
                <a:spcPts val="400"/>
              </a:spcAft>
            </a:pPr>
            <a:endParaRPr sz="1000" b="0">
              <a:solidFill>
                <a:srgbClr val="0F172A"/>
              </a:solidFill>
              <a:latin typeface="Microsoft JhengHei"/>
            </a:endParaRP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最新工程升級：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- Session State 狀態持久化綁定，解決範例載入與按鈕觸發刷新問題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- 內建 RapidOCR 支援離線截圖秒級解析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- 即時風險儀表盤、破綻標註與 165 知識庫即時檢索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9976" y="1645920"/>
            <a:ext cx="342900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62856" y="1828800"/>
            <a:ext cx="306324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📱 2. LINE 官方防詐機器人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一鍵加入好友連結：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https://line.me/R/ti/p/@325readm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(官方帳號 ID：@325readm)</a:t>
            </a:r>
          </a:p>
          <a:p>
            <a:pPr algn="l">
              <a:spcAft>
                <a:spcPts val="400"/>
              </a:spcAft>
            </a:pPr>
            <a:endParaRPr sz="1000" b="0">
              <a:solidFill>
                <a:srgbClr val="0F172A"/>
              </a:solidFill>
              <a:latin typeface="Microsoft JhengHei"/>
            </a:endParaRP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雙模態支援 (文字 + 圖片)：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- 支援直接轉傳可疑簡訊與網址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- 支援直接傳送「對話截圖/簡訊圖片」，自動下載並執行 OCR 鑑識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- Render 雲端 24/7 全天候值守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1645920"/>
            <a:ext cx="342900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11312" y="1828800"/>
            <a:ext cx="306324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🛠️ 3. 本地開發與 CI/CD 自動化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一鍵自動化工具鏈：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- 啟動網頁介面.bat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- 啟動LINE機器人.bat / ngrok.bat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- push_to_github.py 一鍵同步工具</a:t>
            </a:r>
          </a:p>
          <a:p>
            <a:pPr algn="l">
              <a:spcAft>
                <a:spcPts val="400"/>
              </a:spcAft>
            </a:pPr>
            <a:endParaRPr sz="1000" b="0">
              <a:solidFill>
                <a:srgbClr val="0F172A"/>
              </a:solidFill>
              <a:latin typeface="Microsoft JhengHei"/>
            </a:endParaRP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GitHub CI/CD 持續交付：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代碼推送後自動觸發 Streamlit Cloud 與 Render 雲端重新建置，零停機熱更新。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59669"/>
                </a:solidFill>
                <a:latin typeface="Arial"/>
              </a:rPr>
              <a:t>ARCHITECTURE &amp;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F172A"/>
                </a:solidFill>
                <a:latin typeface="Microsoft JhengHei"/>
              </a:rPr>
              <a:t>LINE 機器人雙模態（文字＋截圖）通訊架構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從 LINE Messaging / Content API 到三層式視覺 OCR 與 165 鑑識引擎的完整調度管線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50">
                <a:solidFill>
                  <a:srgbClr val="475569"/>
                </a:solidFill>
                <a:latin typeface="Arial"/>
              </a:rPr>
              <a:t>165 AI 智能多模態防詐騙鑑識系統  •  專題成果簡報   |   10 / 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251460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1783080"/>
            <a:ext cx="22402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2563EB"/>
                </a:solidFill>
                <a:latin typeface="Microsoft JhengHei"/>
              </a:rPr>
              <a:t>1. 轉傳文字或上傳截圖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377440"/>
            <a:ext cx="2240280" cy="1600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用戶在 LINE 貼上可疑簡訊/網址，或直接傳送手機對話截圖/投票活動圖片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65576" y="1645920"/>
            <a:ext cx="251460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02736" y="1783080"/>
            <a:ext cx="22402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2563EB"/>
                </a:solidFill>
                <a:latin typeface="Microsoft JhengHei"/>
              </a:rPr>
              <a:t>2. Webhook 與圖片下載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02736" y="2377440"/>
            <a:ext cx="2240280" cy="1600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FastAPI 驗證 HMAC 簽章；若為圖片則呼叫 LINE Content API 下載二進位圖檔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1645920"/>
            <a:ext cx="251460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36792" y="1783080"/>
            <a:ext cx="22402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59669"/>
                </a:solidFill>
                <a:latin typeface="Microsoft JhengHei"/>
              </a:rPr>
              <a:t>3. 三層 OCR 與 165 鑑識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6792" y="2377440"/>
            <a:ext cx="2240280" cy="1600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透過 Gemini Vision + 本地 RapidOCR 提取圖中文字，結合實時短網址展開與 RAG 推論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33688" y="1645920"/>
            <a:ext cx="251460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070848" y="1783080"/>
            <a:ext cx="22402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59669"/>
                </a:solidFill>
                <a:latin typeface="Microsoft JhengHei"/>
              </a:rPr>
              <a:t>4. 結構化報告秒級推播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70848" y="2377440"/>
            <a:ext cx="2240280" cy="1600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將風險指數、破綻引述與防詐 SOP 轉為手機易讀排版，透過 Reply API 秒級回傳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343400"/>
            <a:ext cx="10728655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60120" y="4480560"/>
            <a:ext cx="10271455" cy="1508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563EB"/>
                </a:solidFill>
                <a:latin typeface="Microsoft JhengHei"/>
              </a:rPr>
              <a:t>⚙️ 最新技術升級亮點（雙模態處理 + 零配額限制 OCR）：</a:t>
            </a: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• 支援 `msg_type == 'image'`：自動向 `api-data.line.me` 串流下載圖片並在背景完成鑑識後自動清理暫存檔，保障隱私。</a:t>
            </a: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• 內建本地 RapidOCR ONNX 引擎：即使雲端 Gemini API 達免費上限 (HTTP 429)，依然能在 0.8 秒內離線完成繁中/英文/網址提取。</a:t>
            </a: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• 實時短網址追蹤 (`_resolve_redirect_url`)：自動解開短網址確認最終網域，精準區分官方活動與惡意釣魚。</a:t>
            </a:r>
          </a:p>
        </p:txBody>
      </p:sp>
    </p:spTree>
    <p:extLst>
      <p:ext uri="{BB962C8B-B14F-4D97-AF65-F5344CB8AC3E}">
        <p14:creationId xmlns:p14="http://schemas.microsoft.com/office/powerpoint/2010/main" val="22619837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59669"/>
                </a:solidFill>
                <a:latin typeface="Arial"/>
              </a:rPr>
              <a:t>LOCAL STARTUP &amp; TUNNELING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F172A"/>
                </a:solidFill>
                <a:latin typeface="Microsoft JhengHei"/>
              </a:rPr>
              <a:t>本機啟動與外網穿透：雙指令實測流程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一鍵批次檔快速啟動 FastAPI 服務與 ngrok 外網 HTTPS 隧道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50">
                <a:solidFill>
                  <a:srgbClr val="475569"/>
                </a:solidFill>
                <a:latin typeface="Arial"/>
              </a:rPr>
              <a:t>165 AI 智能多模態防詐騙鑑識系統  •  專題成果簡報   |   11 / 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21208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783080"/>
            <a:ext cx="48463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🖥️ 步驟 1：啟動 LINE 機器人.bat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Microsoft JhengHei"/>
              </a:rPr>
              <a:t>FastAPI 後端伺服器 (Port: 8000) 監聽文字與圖片 Webhook 事件</a:t>
            </a:r>
          </a:p>
        </p:txBody>
      </p:sp>
      <p:pic>
        <p:nvPicPr>
          <p:cNvPr id="9" name="Picture 8" descr="cmd_start_b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468880"/>
            <a:ext cx="4846320" cy="2468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14400" y="5029200"/>
            <a:ext cx="484632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載入 165 RAG 知識庫、180+ 網域白名單與 RapidOCR 視覺引擎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啟用 Uvicorn Worker，支援多連線即時鑑識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645920"/>
            <a:ext cx="521208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0" y="1783080"/>
            <a:ext cx="48463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59669"/>
                </a:solidFill>
                <a:latin typeface="Microsoft JhengHei"/>
              </a:rPr>
              <a:t>🌐 步驟 2：啟動 LINE 外網穿透(ngrok).bat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Microsoft JhengHei"/>
              </a:rPr>
              <a:t>將本機 Localhost 映射至公網 HTTPS 專屬安全網址</a:t>
            </a:r>
          </a:p>
        </p:txBody>
      </p:sp>
      <p:pic>
        <p:nvPicPr>
          <p:cNvPr id="13" name="Picture 12" descr="cmd_start_ngro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468880"/>
            <a:ext cx="4846320" cy="2468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400800" y="5029200"/>
            <a:ext cx="484632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自動生成專屬 HTTPS 網址 (如 https://xxxx.ngrok-free.app)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自動接通 LINE 伺服器與本機 FastAPI 伺服器</a:t>
            </a:r>
          </a:p>
        </p:txBody>
      </p:sp>
    </p:spTree>
    <p:extLst>
      <p:ext uri="{BB962C8B-B14F-4D97-AF65-F5344CB8AC3E}">
        <p14:creationId xmlns:p14="http://schemas.microsoft.com/office/powerpoint/2010/main" val="26652986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59669"/>
                </a:solidFill>
                <a:latin typeface="Arial"/>
              </a:rPr>
              <a:t>LINE DEVELOPERS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F172A"/>
                </a:solidFill>
                <a:latin typeface="Microsoft JhengHei"/>
              </a:rPr>
              <a:t>LINE 官方後台配置、專屬連結與 Webhook 連動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Messaging API 通道憑證、好友邀請連結 (@325readm) 與簽章安全性校驗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50">
                <a:solidFill>
                  <a:srgbClr val="475569"/>
                </a:solidFill>
                <a:latin typeface="Arial"/>
              </a:rPr>
              <a:t>165 AI 智能多模態防詐騙鑑識系統  •  專題成果簡報   |   12 / 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66928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783080"/>
            <a:ext cx="53035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563EB"/>
                </a:solidFill>
                <a:latin typeface="Microsoft JhengHei"/>
              </a:rPr>
              <a:t>⚙️ LINE Developers Webhook 設定實測截圖</a:t>
            </a:r>
          </a:p>
        </p:txBody>
      </p:sp>
      <p:pic>
        <p:nvPicPr>
          <p:cNvPr id="9" name="Picture 8" descr="line_webhook_sett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331720"/>
            <a:ext cx="5303520" cy="36118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675120" y="1645920"/>
            <a:ext cx="4785055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0" y="1783080"/>
            <a:ext cx="4419295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59669"/>
                </a:solidFill>
                <a:latin typeface="Microsoft JhengHei"/>
              </a:rPr>
              <a:t>📋 關鍵設定與多元加入管道</a:t>
            </a: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1. 專屬一鍵加好友連結與 ID：</a:t>
            </a: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   • 網址：https://line.me/R/ti/p/@325readm</a:t>
            </a: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   • 搜尋 ID：@325readm（免掃碼即可直接點擊加入）</a:t>
            </a:r>
          </a:p>
          <a:p>
            <a:pPr algn="l">
              <a:spcAft>
                <a:spcPts val="400"/>
              </a:spcAft>
            </a:pPr>
            <a:endParaRPr sz="1019" b="0">
              <a:solidFill>
                <a:srgbClr val="0F172A"/>
              </a:solidFill>
              <a:latin typeface="Microsoft JhengHei"/>
            </a:endParaRP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2. Webhook URL 設定：</a:t>
            </a: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   填入 HTTPS 網址 + /callback 路徑，開啟「Use Webhook」即時轉發文字與圖片事件。</a:t>
            </a:r>
          </a:p>
          <a:p>
            <a:pPr algn="l">
              <a:spcAft>
                <a:spcPts val="400"/>
              </a:spcAft>
            </a:pPr>
            <a:endParaRPr sz="1019" b="0">
              <a:solidFill>
                <a:srgbClr val="0F172A"/>
              </a:solidFill>
              <a:latin typeface="Microsoft JhengHei"/>
            </a:endParaRP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3. Channel Access Token &amp; Secret：</a:t>
            </a: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   透過長期權杖讀取圖片內容並推播回覆，以 HMAC-SHA256 驗證簽章防偽。</a:t>
            </a:r>
          </a:p>
        </p:txBody>
      </p:sp>
    </p:spTree>
    <p:extLst>
      <p:ext uri="{BB962C8B-B14F-4D97-AF65-F5344CB8AC3E}">
        <p14:creationId xmlns:p14="http://schemas.microsoft.com/office/powerpoint/2010/main" val="35200744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59669"/>
                </a:solidFill>
                <a:latin typeface="Arial"/>
              </a:rPr>
              <a:t>CLOUD PRODUCTION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F172A"/>
                </a:solidFill>
                <a:latin typeface="Microsoft JhengHei"/>
              </a:rPr>
              <a:t>雲端 24/7 全天候部署：從本機測試邁向雲端生產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Render 雲端託管 + GitHub 實現零本機依賴、永久 HTTPS Webhook 伺服器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50">
                <a:solidFill>
                  <a:srgbClr val="475569"/>
                </a:solidFill>
                <a:latin typeface="Arial"/>
              </a:rPr>
              <a:t>165 AI 智能多模態防詐騙鑑識系統  •  專題成果簡報   |   13 / 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21208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1783080"/>
            <a:ext cx="4754880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D97706"/>
                </a:solidFill>
                <a:latin typeface="Microsoft JhengHei"/>
              </a:rPr>
              <a:t>💻 本機開發除錯架構 (Local Dev)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【運作模式】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本機 PC 執行 `.bat` + `ngrok` 外網穿透。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透過虛擬隧道將請求轉發至本機 Port 8000。</a:t>
            </a:r>
          </a:p>
          <a:p>
            <a:pPr algn="l">
              <a:spcAft>
                <a:spcPts val="400"/>
              </a:spcAft>
            </a:pPr>
            <a:endParaRPr sz="1100" b="0">
              <a:solidFill>
                <a:srgbClr val="0F172A"/>
              </a:solidFill>
              <a:latin typeface="Microsoft JhengHei"/>
            </a:endParaRP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59669"/>
                </a:solidFill>
                <a:latin typeface="Microsoft JhengHei"/>
              </a:rPr>
              <a:t>【優勢】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59669"/>
                </a:solidFill>
                <a:latin typeface="Microsoft JhengHei"/>
              </a:rPr>
              <a:t>• 快速啟動、本機除錯即時生效、適合原型驗證。</a:t>
            </a:r>
          </a:p>
          <a:p>
            <a:pPr algn="l">
              <a:spcAft>
                <a:spcPts val="400"/>
              </a:spcAft>
            </a:pPr>
            <a:endParaRPr sz="1100" b="0">
              <a:solidFill>
                <a:srgbClr val="059669"/>
              </a:solidFill>
              <a:latin typeface="Microsoft JhengHei"/>
            </a:endParaRP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DC2626"/>
                </a:solidFill>
                <a:latin typeface="Microsoft JhengHei"/>
              </a:rPr>
              <a:t>【生產限制】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DC2626"/>
                </a:solidFill>
                <a:latin typeface="Microsoft JhengHei"/>
              </a:rPr>
              <a:t>• ⚠️ 本機電腦關機或睡眠，LINE 機器人即斷線。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DC2626"/>
                </a:solidFill>
                <a:latin typeface="Microsoft JhengHei"/>
              </a:rPr>
              <a:t>• ⚠️ ngrok 免費版每次重啟網址變動，需重設後台。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DC2626"/>
                </a:solidFill>
                <a:latin typeface="Microsoft JhengHei"/>
              </a:rPr>
              <a:t>• ⚠️ 佔用個人電腦運算與頻寬資源。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5212080" cy="44805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46520" y="1783080"/>
            <a:ext cx="4754880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59669"/>
                </a:solidFill>
                <a:latin typeface="Microsoft JhengHei"/>
              </a:rPr>
              <a:t>☁️ 雲端 24/7 生產部署架構 (Render Cloud)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【運作模式】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GitHub 倉庫自動關聯 Render Web Service。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雲端容器化自動建置 Python 3 + FastAPI + RapidOCR。</a:t>
            </a:r>
          </a:p>
          <a:p>
            <a:pPr algn="l">
              <a:spcAft>
                <a:spcPts val="400"/>
              </a:spcAft>
            </a:pPr>
            <a:endParaRPr sz="1100" b="0">
              <a:solidFill>
                <a:srgbClr val="0F172A"/>
              </a:solidFill>
              <a:latin typeface="Microsoft JhengHei"/>
            </a:endParaRP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59669"/>
                </a:solidFill>
                <a:latin typeface="Microsoft JhengHei"/>
              </a:rPr>
              <a:t>【生產級優勢】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59669"/>
                </a:solidFill>
                <a:latin typeface="Microsoft JhengHei"/>
              </a:rPr>
              <a:t>• 🌟 24 小時永不停機：無須開電腦，全年無休值守。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59669"/>
                </a:solidFill>
                <a:latin typeface="Microsoft JhengHei"/>
              </a:rPr>
              <a:t>• 🔒 永久固定 HTTPS：專屬網址，一次綁定永不失效。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59669"/>
                </a:solidFill>
                <a:latin typeface="Microsoft JhengHei"/>
              </a:rPr>
              <a:t>• 🔄 GitHub CI/CD：代碼推送後自動重新建置熱更新。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59669"/>
                </a:solidFill>
                <a:latin typeface="Microsoft JhengHei"/>
              </a:rPr>
              <a:t>• 💰 零成本運行：內建本地 RapidOCR 不消耗付費 API 配額。</a:t>
            </a:r>
          </a:p>
        </p:txBody>
      </p:sp>
    </p:spTree>
    <p:extLst>
      <p:ext uri="{BB962C8B-B14F-4D97-AF65-F5344CB8AC3E}">
        <p14:creationId xmlns:p14="http://schemas.microsoft.com/office/powerpoint/2010/main" val="13937688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59669"/>
                </a:solidFill>
                <a:latin typeface="Arial"/>
              </a:rPr>
              <a:t>STEP-BY-STEP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F172A"/>
                </a:solidFill>
                <a:latin typeface="Microsoft JhengHei"/>
              </a:rPr>
              <a:t>Render 雲端部署 4 大實務流程：極簡一鍵上線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透過 GitHub 與 Render 實現全自動化建置、環境變數隔離與安全部署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50">
                <a:solidFill>
                  <a:srgbClr val="475569"/>
                </a:solidFill>
                <a:latin typeface="Arial"/>
              </a:rPr>
              <a:t>165 AI 智能多模態防詐騙鑑識系統  •  專題成果簡報   |   14 / 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251460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22402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2563EB"/>
                </a:solidFill>
                <a:latin typeface="Microsoft JhengHei"/>
              </a:rPr>
              <a:t>Step 1. 關聯 GitHub 倉庫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468880"/>
            <a:ext cx="224028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於 Render 點選「+ Create new service」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選擇「Web Service」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授權並選取 165-anti-scam-ai 專案倉庫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65576" y="1645920"/>
            <a:ext cx="251460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02736" y="1828800"/>
            <a:ext cx="22402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2563EB"/>
                </a:solidFill>
                <a:latin typeface="Microsoft JhengHei"/>
              </a:rPr>
              <a:t>Step 2. 雲端運行環境配置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02736" y="2468880"/>
            <a:ext cx="224028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Runtime: 選擇 Python 3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Build: pip install -r requirements.txt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自動安裝 FastAPI 與 rapidocr-onnxruntime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Start: uvicorn line_bot_server:app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1645920"/>
            <a:ext cx="251460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36792" y="1828800"/>
            <a:ext cx="22402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59669"/>
                </a:solidFill>
                <a:latin typeface="Microsoft JhengHei"/>
              </a:rPr>
              <a:t>Step 3. 安全環境變數注入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6792" y="2468880"/>
            <a:ext cx="224028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於 Environment 標籤頁配置敏感金鑰：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LINE_CHANNEL_ACCESS_TOKEN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LINE_CHANNEL_SECRET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GEMINI_API_KEY (搭配本地 OCR 雙保障)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33688" y="1645920"/>
            <a:ext cx="251460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070848" y="1828800"/>
            <a:ext cx="22402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59669"/>
                </a:solidFill>
                <a:latin typeface="Microsoft JhengHei"/>
              </a:rPr>
              <a:t>Step 4. 永久 Webhook 綁定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70848" y="2468880"/>
            <a:ext cx="224028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取得專屬 HTTPS 網址 (onrender.com)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填入 LINE 後台 Webhook URL (/callback)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點擊 Verify 驗證成功，完成 24hr 上線！</a:t>
            </a:r>
          </a:p>
        </p:txBody>
      </p:sp>
    </p:spTree>
    <p:extLst>
      <p:ext uri="{BB962C8B-B14F-4D97-AF65-F5344CB8AC3E}">
        <p14:creationId xmlns:p14="http://schemas.microsoft.com/office/powerpoint/2010/main" val="24351659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59669"/>
                </a:solidFill>
                <a:latin typeface="Arial"/>
              </a:rPr>
              <a:t>LIVE VERIFICATION &amp; TEST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F172A"/>
                </a:solidFill>
                <a:latin typeface="Microsoft JhengHei"/>
              </a:rPr>
              <a:t>真實對話與截圖實測：合法官網放行 vs 新型詐騙攔截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實機驗證：精準放行台哥大商城 (twm5g.my) 與 iPAS 考試官網 (bsms.tw)，高敏銳攔截 165 通報帳號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50">
                <a:solidFill>
                  <a:srgbClr val="475569"/>
                </a:solidFill>
                <a:latin typeface="Arial"/>
              </a:rPr>
              <a:t>165 AI 智能多模態防詐騙鑑識系統  •  專題成果簡報   |   15 / 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438912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6C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783080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059669"/>
                </a:solidFill>
                <a:latin typeface="Microsoft JhengHei"/>
              </a:rPr>
              <a:t>📱 LINE 真機實測對話截圖</a:t>
            </a:r>
          </a:p>
        </p:txBody>
      </p:sp>
      <p:pic>
        <p:nvPicPr>
          <p:cNvPr id="9" name="Picture 8" descr="line_chat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286000"/>
            <a:ext cx="4023360" cy="36576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49240" y="1645920"/>
            <a:ext cx="6110935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532120" y="1783080"/>
            <a:ext cx="5745175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📊 最新實戰案例深度解析與鑑識表現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059669"/>
                </a:solidFill>
                <a:latin typeface="Microsoft JhengHei"/>
              </a:rPr>
              <a:t>【實測 A：台哥大商城 (twm5g.my) / 經濟部 iPAS 考試 (bsms.tw/oCW9Bo) / 巴黎人壽】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系統判定：🟢 安全（評分 5/100）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鑑識結論：實時展開短網址確認跳轉至官方網域 (oppay.tw / .com.tw)，精準放行零誤判！</a:t>
            </a:r>
          </a:p>
          <a:p>
            <a:pPr algn="l">
              <a:spcAft>
                <a:spcPts val="400"/>
              </a:spcAft>
            </a:pPr>
            <a:endParaRPr sz="1000" b="0">
              <a:solidFill>
                <a:srgbClr val="0F172A"/>
              </a:solidFill>
              <a:latin typeface="Microsoft JhengHei"/>
            </a:endParaRP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DC2626"/>
                </a:solidFill>
                <a:latin typeface="Microsoft JhengHei"/>
              </a:rPr>
              <a:t>【實測 B：假監理站 (t.ly/mvdis.gov.tw) &amp; 繪畫比賽投票 (t5.clsuenfd5.top)】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系統判定：🔴 極度危險（評分 96/100）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鑑識結論：識破斜線後偽造政府網域與「回復 1 啟動連結」陷阱；攔截假投票盜取 LINE 帳密。</a:t>
            </a:r>
          </a:p>
          <a:p>
            <a:pPr algn="l">
              <a:spcAft>
                <a:spcPts val="400"/>
              </a:spcAft>
            </a:pPr>
            <a:endParaRPr sz="1000" b="0">
              <a:solidFill>
                <a:srgbClr val="0F172A"/>
              </a:solidFill>
              <a:latin typeface="Microsoft JhengHei"/>
            </a:endParaRP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DC2626"/>
                </a:solidFill>
                <a:latin typeface="Microsoft JhengHei"/>
              </a:rPr>
              <a:t>【實測 C：木馬病毒簡訊 (goo.gl 黑貓簽收單/聚會照片) &amp; iMessage 引流截圖】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系統判定：🔴 極度危險（評分 95~96/100）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鑑識結論：攔截公開短網址 APK 木馬與小額付費盜刷；識破永豐貸/加 L1ne/漲停票截圖。</a:t>
            </a:r>
          </a:p>
        </p:txBody>
      </p:sp>
    </p:spTree>
    <p:extLst>
      <p:ext uri="{BB962C8B-B14F-4D97-AF65-F5344CB8AC3E}">
        <p14:creationId xmlns:p14="http://schemas.microsoft.com/office/powerpoint/2010/main" val="28256438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3EB"/>
                </a:solidFill>
                <a:latin typeface="Microsoft JhengHei"/>
              </a:rPr>
              <a:t>PROJECT HIGHLIGHT  |  BENCHMARK &amp; SCIENTIFIC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黃金基準測試與真實案例實測驗證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20 筆對抗測試集 + 多組真實世界新型釣魚/合法官網盲測，達成 100% 召回率與 0% 誤判率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165 AI 智能多模態防詐騙鑑識系統  •  專題成果簡報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73952"/>
            <a:ext cx="18589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2563EB"/>
                </a:solidFill>
                <a:latin typeface="Microsoft JhengHei"/>
              </a:rPr>
              <a:t>16 /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25146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737360"/>
            <a:ext cx="25146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2563EB"/>
                </a:solidFill>
                <a:latin typeface="Arial"/>
              </a:rPr>
              <a:t>100%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40280"/>
            <a:ext cx="2514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50" b="1">
                <a:solidFill>
                  <a:srgbClr val="475569"/>
                </a:solidFill>
                <a:latin typeface="Microsoft JhengHei"/>
              </a:rPr>
              <a:t>基準測試準確率</a:t>
            </a:r>
          </a:p>
          <a:p>
            <a:pPr algn="ctr">
              <a:spcAft>
                <a:spcPts val="400"/>
              </a:spcAft>
            </a:pPr>
            <a:r>
              <a:rPr sz="950" b="1">
                <a:solidFill>
                  <a:srgbClr val="475569"/>
                </a:solidFill>
                <a:latin typeface="Microsoft JhengHei"/>
              </a:rPr>
              <a:t>(20/20 筆完全命中)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65576" y="1645920"/>
            <a:ext cx="25146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465576" y="1737360"/>
            <a:ext cx="25146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059669"/>
                </a:solidFill>
                <a:latin typeface="Arial"/>
              </a:rPr>
              <a:t>&lt; 1.5s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65576" y="2240280"/>
            <a:ext cx="2514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50" b="1">
                <a:solidFill>
                  <a:srgbClr val="475569"/>
                </a:solidFill>
                <a:latin typeface="Microsoft JhengHei"/>
              </a:rPr>
              <a:t>本地 OCR + 鑑識延遲</a:t>
            </a:r>
          </a:p>
          <a:p>
            <a:pPr algn="ctr">
              <a:spcAft>
                <a:spcPts val="400"/>
              </a:spcAft>
            </a:pPr>
            <a:r>
              <a:rPr sz="950" b="1">
                <a:solidFill>
                  <a:srgbClr val="475569"/>
                </a:solidFill>
                <a:latin typeface="Microsoft JhengHei"/>
              </a:rPr>
              <a:t>(RapidOCR 極速響應)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2" y="1645920"/>
            <a:ext cx="25146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99632" y="1737360"/>
            <a:ext cx="25146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059669"/>
                </a:solidFill>
                <a:latin typeface="Arial"/>
              </a:rPr>
              <a:t>100%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99632" y="2240280"/>
            <a:ext cx="2514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50" b="1">
                <a:solidFill>
                  <a:srgbClr val="475569"/>
                </a:solidFill>
                <a:latin typeface="Microsoft JhengHei"/>
              </a:rPr>
              <a:t>新型釣魚攔截率</a:t>
            </a:r>
          </a:p>
          <a:p>
            <a:pPr algn="ctr">
              <a:spcAft>
                <a:spcPts val="400"/>
              </a:spcAft>
            </a:pPr>
            <a:r>
              <a:rPr sz="950" b="1">
                <a:solidFill>
                  <a:srgbClr val="475569"/>
                </a:solidFill>
                <a:latin typeface="Microsoft JhengHei"/>
              </a:rPr>
              <a:t>(木馬/投票/監理站/L1ne)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33688" y="1645920"/>
            <a:ext cx="25146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933688" y="1737360"/>
            <a:ext cx="25146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059669"/>
                </a:solidFill>
                <a:latin typeface="Arial"/>
              </a:rPr>
              <a:t>0.0%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33688" y="2240280"/>
            <a:ext cx="2514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50" b="1">
                <a:solidFill>
                  <a:srgbClr val="475569"/>
                </a:solidFill>
                <a:latin typeface="Microsoft JhengHei"/>
              </a:rPr>
              <a:t>合法官網誤判率</a:t>
            </a:r>
          </a:p>
          <a:p>
            <a:pPr algn="ctr">
              <a:spcAft>
                <a:spcPts val="400"/>
              </a:spcAft>
            </a:pPr>
            <a:r>
              <a:rPr sz="950" b="1">
                <a:solidFill>
                  <a:srgbClr val="475569"/>
                </a:solidFill>
                <a:latin typeface="Microsoft JhengHei"/>
              </a:rPr>
              <a:t>(台哥大/iPAS考試/巴黎人壽)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3154680"/>
            <a:ext cx="5212080" cy="2971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60120" y="3291840"/>
            <a:ext cx="4754880" cy="2651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DC2626"/>
                </a:solidFill>
                <a:latin typeface="Microsoft JhengHei"/>
              </a:rPr>
              <a:t>🚨 真實新型詐騙攔截實測 (100% 檢出)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• 假親友繪畫比賽拉票 (t5.clsuenfd5.top) ➔ 96/100 極度危險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• 假監理站罰單路徑偽裝 (t.ly/mvdis.gov.tw) ➔ 96/100 極度危險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• 木馬病毒簡訊 (黑貓簽收單/聚會照片 goo.gl) ➔ 96/100 極度危險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• iMessage 假信貸/裝熟 L1ne/漲停票截圖 ➔ 95/100 極度危險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• 165 警政署通報涉詐 LINE ID (peakchaser116 / tt67777) ➔ 98/100 極度危險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3154680"/>
            <a:ext cx="5212080" cy="2971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46520" y="3291840"/>
            <a:ext cx="4754880" cy="2651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059669"/>
                </a:solidFill>
                <a:latin typeface="Microsoft JhengHei"/>
              </a:rPr>
              <a:t>🟢 真實合法官方網站放行實測 (0% 誤判)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• 台哥大帳單與商城預購 (twm5g.co / twm5g.my/QM4J09XDK9)：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  跨行網址縫合 + Meta-Refresh 追蹤至 myfone.com.tw ➔ 5/100 安全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• 法國巴黎人壽官網 (https://life.cardif.com.tw/a311)：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  匹配人壽白名單與 .com.tw 官方網域 ➔ 5/100 安全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• 經濟部 iPAS 能力鑑定考試通知 (bsms.tw/oCW9Bo ➔ ipd.nat.gov.tw) ➔ 5/100 安全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3EB"/>
                </a:solidFill>
                <a:latin typeface="Microsoft JhengHei"/>
              </a:rPr>
              <a:t>PROJECT HIGHLIGHT  |  HIGHLIGHTS &amp;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專題核心亮點與創新價值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從演算法創新、三層高可用視覺架構到社會防詐價值的全面突破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165 AI 智能多模態防詐騙鑑識系統  •  專題成果簡報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73952"/>
            <a:ext cx="18589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2563EB"/>
                </a:solidFill>
                <a:latin typeface="Microsoft JhengHei"/>
              </a:rPr>
              <a:t>17 /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1783080"/>
            <a:ext cx="484632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🚀 1. 永不掉線的三層式多模態鑑識架構</a:t>
            </a: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結合 Gemini Vision、本地端 RapidOCR ONNX 神經網路與雲端 OCR 備援，徹底解決免費 API 配額耗盡 (HTTP 429) 與雲端限流 (HTTP 503) 問題，確保網頁與 LINE 機器人 100% 全時可辨識截圖。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8095" y="1645920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30975" y="1783080"/>
            <a:ext cx="484632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59669"/>
                </a:solidFill>
                <a:latin typeface="Microsoft JhengHei"/>
              </a:rPr>
              <a:t>🔍 2. 深度拆解台灣最新變種詐騙手法</a:t>
            </a: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精準識破「t.ly/mvdis.gov.tw 斜線路徑偽裝」、「回復 1 啟動連結解鎖」、「goo.gl 木馬病毒簡訊盜刷小額付費」、「繪畫比賽拉票盜號」與「iMessage 變形字 L1ne 引流」，提供量身定做的止血對策。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977640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" y="4114800"/>
            <a:ext cx="484632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D97706"/>
                </a:solidFill>
                <a:latin typeface="Microsoft JhengHei"/>
              </a:rPr>
              <a:t>🛡️ 3. 165 官網 API 即時同步與 185+ 官方白名單</a:t>
            </a: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直連警政署 165.npa.gov.tw 官方 API 同步最新詐騙公告與涉詐 LINE ID；並內建 185+ 信任網域與跨行短網址展開 (支援 twm5g.my、bsms.tw)，達成 0% 誤判率。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48095" y="3977640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30975" y="4114800"/>
            <a:ext cx="484632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DC2626"/>
                </a:solidFill>
                <a:latin typeface="Microsoft JhengHei"/>
              </a:rPr>
              <a:t>🌐 4. 普惠科技與跨平台零門檻守護</a:t>
            </a: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提供免安裝 App 的 LINE 官方機器人 (@325readm，支援點擊連結或掃碼加入) 與 Streamlit 雲端工作台，並將 Llama-3 QLoRA 權重開源至 Hugging Face，實質守護全民財產安全。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31520" y="594360"/>
            <a:ext cx="4572000" cy="438912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38BDF8"/>
                </a:solidFill>
                <a:latin typeface="Microsoft JhengHei"/>
              </a:rPr>
              <a:t>🔮 FUTURE ROADMAP &amp;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4300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Microsoft JhengHei"/>
              </a:rPr>
              <a:t>未來展望與問答 (Future Roadmap &amp; Q&amp;A)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74519"/>
            <a:ext cx="3429000" cy="2468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68680" y="2011680"/>
            <a:ext cx="315468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38BDF8"/>
                </a:solidFill>
                <a:latin typeface="Microsoft JhengHei"/>
              </a:rPr>
              <a:t>🎙️ 1. 語音通話 Deepfake 活體防偽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擴展至音訊多模態鑑識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即時偵測 AI 變聲與假檢警恐嚇語氣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結合電話端即時轉錄與語意 CoT 鑑識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79976" y="1874519"/>
            <a:ext cx="3429000" cy="2468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17136" y="2011680"/>
            <a:ext cx="315468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38BDF8"/>
                </a:solidFill>
                <a:latin typeface="Microsoft JhengHei"/>
              </a:rPr>
              <a:t>🤖 2. 主動反釣魚 AI 蜜罐代理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部署 Autonomous Agent 扮演受害人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主動與詐團周旋拖延時間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自動套取人頭帳戶與惡意 APK 樣本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28432" y="1874519"/>
            <a:ext cx="3429000" cy="2468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165592" y="2011680"/>
            <a:ext cx="315468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38BDF8"/>
                </a:solidFill>
                <a:latin typeface="Microsoft JhengHei"/>
              </a:rPr>
              <a:t>📱 3. NPU 邊緣離線端側整合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將 4-bit 模型與 RapidOCR 封裝至手機 NPU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實現無網路環境下簡訊與畫面秒級攔截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確保民眾通訊隱私 100% 不外洩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572000"/>
            <a:ext cx="10728655" cy="1645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4709160"/>
            <a:ext cx="1014984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Microsoft JhengHei"/>
              </a:rPr>
              <a:t>🛡️ 感謝各位教授與評審委員的聆聽！</a:t>
            </a:r>
          </a:p>
          <a:p>
            <a:pPr algn="ctr">
              <a:spcAft>
                <a:spcPts val="400"/>
              </a:spcAft>
            </a:pPr>
            <a:r>
              <a:rPr sz="1200" b="1">
                <a:solidFill>
                  <a:srgbClr val="38BDF8"/>
                </a:solidFill>
                <a:latin typeface="Arial"/>
              </a:rPr>
              <a:t>線上體驗：https://165-anti-scam-ai.streamlit.app   •   LINE 機器人：https://line.me/R/ti/p/@325readm</a:t>
            </a:r>
          </a:p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CD34D"/>
                </a:solidFill>
                <a:latin typeface="Microsoft JhengHei"/>
              </a:rPr>
              <a:t>誠摯歡迎提問與指導 (Q&amp;A)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31520" y="594360"/>
            <a:ext cx="5303520" cy="438912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C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0" rIns="182880" bIns="0" rtlCol="0" anchor="ctr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34D399"/>
                </a:solidFill>
                <a:latin typeface="Microsoft JhengHei"/>
              </a:rPr>
              <a:t>🎯 專題結語 ｜ 打造全民智慧防詐第一防線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777240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FFFFFF"/>
                </a:solidFill>
                <a:latin typeface="Microsoft JhengHei"/>
              </a:rPr>
              <a:t>感謝聆聽 ｜ 敬請指教</a:t>
            </a:r>
          </a:p>
          <a:p>
            <a:pPr algn="l">
              <a:spcAft>
                <a:spcPts val="400"/>
              </a:spcAft>
            </a:pPr>
            <a:r>
              <a:rPr sz="1250" b="1">
                <a:solidFill>
                  <a:srgbClr val="38BDF8"/>
                </a:solidFill>
                <a:latin typeface="Arial"/>
              </a:rPr>
              <a:t>165 AI 官方防詐機器人 (@325readm)：讓每一次轉傳與截圖，都成為最安心的防護。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468880"/>
            <a:ext cx="7772400" cy="3474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C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20" y="2651760"/>
            <a:ext cx="7315200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34D399"/>
                </a:solidFill>
                <a:latin typeface="Microsoft JhengHei"/>
              </a:rPr>
              <a:t>📌 專案核心總結 (Key Takeaways)：</a:t>
            </a:r>
          </a:p>
          <a:p>
            <a:pPr algn="l">
              <a:spcAft>
                <a:spcPts val="400"/>
              </a:spcAft>
            </a:pPr>
            <a:r>
              <a:rPr sz="1080" b="0">
                <a:solidFill>
                  <a:srgbClr val="FFFFFF"/>
                </a:solidFill>
                <a:latin typeface="Microsoft JhengHei"/>
              </a:rPr>
              <a:t>1. 文字＋截圖雙模態：支援簡訊轉傳與對話截圖直接上傳，內建本地 RapidOCR 永不因配額中斷。</a:t>
            </a:r>
          </a:p>
          <a:p>
            <a:pPr algn="l">
              <a:spcAft>
                <a:spcPts val="400"/>
              </a:spcAft>
            </a:pPr>
            <a:r>
              <a:rPr sz="1080" b="0">
                <a:solidFill>
                  <a:srgbClr val="FFFFFF"/>
                </a:solidFill>
                <a:latin typeface="Microsoft JhengHei"/>
              </a:rPr>
              <a:t>2. 深度識破新型詐騙：精準攔截斜線路徑偽裝 (t.ly/mvdis.gov.tw)、比賽拉票盜號、木馬簡訊與 L1ne 引流。</a:t>
            </a:r>
          </a:p>
          <a:p>
            <a:pPr algn="l">
              <a:spcAft>
                <a:spcPts val="400"/>
              </a:spcAft>
            </a:pPr>
            <a:r>
              <a:rPr sz="1080" b="0">
                <a:solidFill>
                  <a:srgbClr val="FFFFFF"/>
                </a:solidFill>
                <a:latin typeface="Microsoft JhengHei"/>
              </a:rPr>
              <a:t>3. 180+ 官方白名單與轉址追蹤：台哥大、法國巴黎人壽、蝦皮等合法官方網址 0% 誤判。</a:t>
            </a:r>
          </a:p>
          <a:p>
            <a:pPr algn="l">
              <a:spcAft>
                <a:spcPts val="400"/>
              </a:spcAft>
            </a:pPr>
            <a:r>
              <a:rPr sz="1080" b="0">
                <a:solidFill>
                  <a:srgbClr val="FFFFFF"/>
                </a:solidFill>
                <a:latin typeface="Microsoft JhengHei"/>
              </a:rPr>
              <a:t>4. 雲端 24/7 與多元加入：支援掃碼或點擊 https://line.me/R/ti/p/@325readm 一鍵加入好友。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78240" y="1188720"/>
            <a:ext cx="2681935" cy="493776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06C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15400" y="1325880"/>
            <a:ext cx="2407615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📱 現場體驗 LINE 防詐</a:t>
            </a:r>
          </a:p>
          <a:p>
            <a:pPr algn="ctr">
              <a:spcAft>
                <a:spcPts val="400"/>
              </a:spcAft>
            </a:pPr>
            <a:r>
              <a:rPr sz="1050" b="1">
                <a:solidFill>
                  <a:srgbClr val="34D399"/>
                </a:solidFill>
                <a:latin typeface="Microsoft JhengHei"/>
              </a:rPr>
              <a:t>ID: @325readm</a:t>
            </a:r>
          </a:p>
        </p:txBody>
      </p:sp>
      <p:pic>
        <p:nvPicPr>
          <p:cNvPr id="8" name="Picture 7" descr="line_qr_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25128" y="2057400"/>
            <a:ext cx="2194560" cy="21945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869680" y="4343400"/>
            <a:ext cx="2499055" cy="1600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50" b="0">
                <a:solidFill>
                  <a:srgbClr val="E2E8F0"/>
                </a:solidFill>
                <a:latin typeface="Microsoft JhengHei"/>
              </a:rPr>
              <a:t>🔗 line.me/R/ti/p/@325readm</a:t>
            </a:r>
          </a:p>
          <a:p>
            <a:pPr algn="ctr">
              <a:spcAft>
                <a:spcPts val="400"/>
              </a:spcAft>
            </a:pPr>
            <a:r>
              <a:rPr sz="950" b="0">
                <a:solidFill>
                  <a:srgbClr val="E2E8F0"/>
                </a:solidFill>
                <a:latin typeface="Microsoft JhengHei"/>
              </a:rPr>
              <a:t>🌐 GitHub: alex0647-star</a:t>
            </a:r>
          </a:p>
          <a:p>
            <a:pPr algn="ctr">
              <a:spcAft>
                <a:spcPts val="400"/>
              </a:spcAft>
            </a:pPr>
            <a:r>
              <a:rPr sz="950" b="0">
                <a:solidFill>
                  <a:srgbClr val="E2E8F0"/>
                </a:solidFill>
                <a:latin typeface="Microsoft JhengHei"/>
              </a:rPr>
              <a:t>🛡️ 165 AI 防詐守門員</a:t>
            </a:r>
          </a:p>
        </p:txBody>
      </p:sp>
    </p:spTree>
    <p:extLst>
      <p:ext uri="{BB962C8B-B14F-4D97-AF65-F5344CB8AC3E}">
        <p14:creationId xmlns:p14="http://schemas.microsoft.com/office/powerpoint/2010/main" val="30815778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3125</Words>
  <Application>Microsoft Office PowerPoint</Application>
  <PresentationFormat>寬螢幕</PresentationFormat>
  <Paragraphs>409</Paragraphs>
  <Slides>19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19</vt:i4>
      </vt:variant>
    </vt:vector>
  </HeadingPairs>
  <TitlesOfParts>
    <vt:vector size="23" baseType="lpstr">
      <vt:lpstr>Microsoft JhengHei</vt:lpstr>
      <vt:lpstr>Arial</vt:lpstr>
      <vt:lpstr>Calibri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國慶 曾</cp:lastModifiedBy>
  <cp:revision>2</cp:revision>
  <dcterms:created xsi:type="dcterms:W3CDTF">2013-01-27T09:14:16Z</dcterms:created>
  <dcterms:modified xsi:type="dcterms:W3CDTF">2026-10-28T15:37:52Z</dcterms:modified>
  <cp:category/>
</cp:coreProperties>
</file>