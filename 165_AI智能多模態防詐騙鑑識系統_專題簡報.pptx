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566928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0" bIns="0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Microsoft JhengHei"/>
              </a:rPr>
              <a:t>🛡️ 大型語言模型 (LLM) 專題研究與實戰成果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165 AI 智能多模態防詐騙鑑識系統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38BDF8"/>
                </a:solidFill>
                <a:latin typeface="Arial"/>
              </a:rPr>
              <a:t>Anti-Scam Multi-Modal Forensic System based on Llama-3 4-bit QLoRA, Gemini Vision &amp; Local RapidOCR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97480"/>
            <a:ext cx="25146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🧠 Llama-3 4-bit QLoRA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單張 T4 顯存優化微調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繁體中文 165 劇本注入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開源發佈至 Hugging 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2697480"/>
            <a:ext cx="25146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28346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👁️ 三層式高可用視覺 OCR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338328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Gemini Vision 多模型切換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內建本地 RapidOCR 零配額限制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永不發生 HTTP 429/503 中斷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697480"/>
            <a:ext cx="25146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28346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🔗 CoT 五步思維鏈鑑識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338328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身分➔誘餌➔話術➔行為➔對策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識破斜線路徑偽裝與木馬簡訊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具備極高可解釋性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2697480"/>
            <a:ext cx="25146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28346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🛡️ 180+ 網域白名單與轉址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338328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180+ 政府/金融/人壽/電信白名單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實時短網址 301/302 落地追蹤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黃金測試達成 0% 誤判率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🎯 成果交付：Streamlit 雲端工作台 ｜ LINE 支援文字與截圖機器人 (@325readm) ｜ 20 筆基準評估 100% 準確率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38BDF8"/>
                </a:solidFill>
                <a:latin typeface="Arial"/>
              </a:rPr>
              <a:t>🌐 雲端線上展示：https://165-anti-scam-ai.streamlit.app   •   LINE 好友連結：https://line.me/R/ti/p/@325readm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Microsoft JhengHei"/>
              </a:rPr>
              <a:t>PROJECT HIGHLIGHT  | 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Microsoft JhengHei"/>
              </a:rPr>
              <a:t>研究背景與新型態防詐痛點分析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台灣詐騙手法快速翻新，從同音變形字、短網址路徑偽裝到木馬病毒簡訊全面演化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165 AI 智能多模態防詐騙鑑識系統  •  專題成果簡報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  <a:latin typeface="Microsoft JhengHei"/>
              </a:rPr>
              <a:t>⚠️ 痛點 1：變形字繞過、短網址偽裝與木馬跳板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詐團使用「加下我 L1ne、投貲」變形字規避電信過濾，或以「t.ly/mvdis.gov.tw」斜線路徑偽裝假冒政府監理站。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更利用已停用之公開短網址 (goo.gl) 偽冒黑貓簽收單與聚會照片，植入 APK 木馬盜刷小額付費。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  <a:latin typeface="Microsoft JhengHei"/>
              </a:rPr>
              <a:t>⚠️ 痛點 2：新型「臨櫃說謊教戰」與「比賽投票盜號」截圖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詐團傳送截圖教導被害人：「行員問就說是裝潢款」，或盜用親友帳號傳送「小朋友繪畫比賽幫投14號 (.top/.vip 網址)」。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傳統純文字防詐工具無法讀取對話截圖，且單一雲端 OCR 容易因免費配額耗盡 (HTTP 429) 而失效。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Microsoft JhengHei"/>
              </a:rPr>
              <a:t>🔍 痛點 3：傳統防護缺乏「可解釋性」與官方短網址誤判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傳統防毒僅回傳「危險/安全」，民眾不知破綻在哪；同時常將合法企業短網址（如台哥大 twm5g.co、法國巴黎人壽 cardif.com.tw）誤判為高風險。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缺乏心理戰術拆解與即時止血、關閉電信小額付費之標準作業 SOP。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148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Microsoft JhengHei"/>
              </a:rPr>
              <a:t>💡 專題核心使命：打造高可用 AI 多模態防詐智囊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結合 Llama-3 4-bit QLoRA + 三層式高可用視覺 OCR (Gemini Vision + 本地 RapidOCR + 雲端備援)。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引入 CoT 五步思維鏈與 180+ 台灣官方網域白名單暨實時轉址追蹤，實現「高檢出、零誤判、永不掉線」。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Microsoft JhengHei"/>
              </a:rPr>
              <a:t>PROJECT HIGHLIGHT  |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Microsoft JhengHei"/>
              </a:rPr>
              <a:t>系統總體六層閉環架構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從多模態圖文輸入、三層式 OCR、實時短網址展開到終端交付的端到端安全鑑識管線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165 AI 智能多模態防詐騙鑑識系統  •  專題成果簡報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645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16459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48840"/>
            <a:ext cx="14996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JhengHei"/>
              </a:rPr>
              <a:t>1. 多模態輸入層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Arial"/>
              </a:rPr>
              <a:t>Input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26080"/>
            <a:ext cx="1499616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可疑簡訊 / 短網址連結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LINE/iMessage 對話截圖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臨櫃教戰圖 / 投票拉票圖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2" y="1645920"/>
            <a:ext cx="1645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2032" y="1645920"/>
            <a:ext cx="164592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2148840"/>
            <a:ext cx="14996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JhengHei"/>
              </a:rPr>
              <a:t>2. 三層視覺 OCR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Arial"/>
              </a:rPr>
              <a:t>3-Tier Vision 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2926080"/>
            <a:ext cx="1499616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Gemini 2.0/2.5 多模型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本地 RapidOCR (零配額限制)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LANCZOS 壓縮與雲端備援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1645920"/>
            <a:ext cx="1645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2544" y="1645920"/>
            <a:ext cx="164592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148840"/>
            <a:ext cx="14996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JhengHei"/>
              </a:rPr>
              <a:t>3. 165 RAG 知識庫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Arial"/>
              </a:rPr>
              <a:t>Knowledge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926080"/>
            <a:ext cx="1499616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15+ 高發犯罪套路劇本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涵蓋木馬簡訊/iMessage引流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觸發關鍵字與變形字檢索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1645920"/>
            <a:ext cx="1645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5" y="1645920"/>
            <a:ext cx="164592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STEP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2148840"/>
            <a:ext cx="14996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JhengHei"/>
              </a:rPr>
              <a:t>4. CoT 鑑識核心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Arial"/>
              </a:rPr>
              <a:t>Reasoning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2926080"/>
            <a:ext cx="1499616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身分➔網域➔話術➔行為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實時短網址 301/302 追蹤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識破斜線路徑偽裝陷阱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1645920"/>
            <a:ext cx="1645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645920"/>
            <a:ext cx="164592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STEP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148840"/>
            <a:ext cx="14996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JhengHei"/>
              </a:rPr>
              <a:t>5. 防誤判結構守衛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Arial"/>
              </a:rPr>
              <a:t>Guardrails &amp; Whitelist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926080"/>
            <a:ext cx="1499616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Pydantic 結構化 Schema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180+ 台灣官方網域白名單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封鎖公開短網址 (goo.gl/t.ly)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1645920"/>
            <a:ext cx="1645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1645920"/>
            <a:ext cx="164592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STEP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2148840"/>
            <a:ext cx="149961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JhengHei"/>
              </a:rPr>
              <a:t>6. 終端交付與展示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Arial"/>
              </a:rPr>
              <a:t>Delivery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2926080"/>
            <a:ext cx="1499616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Streamlit 狀態持久化工作台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LINE Bot 支援圖片與文字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CLI 終端與 20 筆基準測試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Microsoft JhengHei"/>
              </a:rPr>
              <a:t>PROJECT HIGHLIGHT  |  MODEL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Microsoft JhengHei"/>
              </a:rPr>
              <a:t>4-bit QLoRA 大模型微調技術實踐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使用 Unsloth + PEFT 在單張 T4 GPU 上完成 Llama-3-8B 繁體中文防詐專用模型訓練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165 AI 智能多模態防詐騙鑑識系統  •  專題成果簡報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⚡ 1. 基底模型與 4-bit NF4 量化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基底：Meta-Llama-3-8B-Instruct 大語言模型。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量化：BitsAndBytes 4-bit NF4 量化，將顯存需求由 32GB 降至 8GB。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加速：採用 Unsloth 核心優化，微調速度提升 2.2 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📊 2. 結構化防詐資料集工程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格式：採 ShareGPT / Alpaca 繁體中文多輪 CoT 標註對話。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領域語料：涵蓋 165 歷史通報、Dcard/PTT 詐騙求助貼文與反制話術。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負樣本注入：納入正規銀行、人壽保單、電商與電信促銷，避免過度警覺。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⚙️ 3. LoRA 超參數與收斂曲線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參數：r = 16, lora_alpha = 16, target_modules = [q, k, v, o, gate, up, down]。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學習率：2e-4 (Cosine 排程) + AdamW 8-bit 優化器。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訓練成果：Loss 從初始 1.85 順利收斂至 0.42，模型具備深厚台式詐騙語意感知。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🚀 4. 權重發佈與邊緣端相容性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開源發佈：微調 LoRA 權重已上傳至 Hugging Face 開源社群：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  👉 alex0647/165-anti-scam-llama3-lora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輕量適配：僅 160MB LoRA 適配器即可快速熱插拔加載至各種推理引擎。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Microsoft JhengHei"/>
              </a:rPr>
              <a:t>PROJECT HIGHLIGHT  |  REASONING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Microsoft JhengHei"/>
              </a:rPr>
              <a:t>CoT 五步思維鏈鑑識核心与新型態破綻攔截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模擬 165 鑑識專家思維模式，精準識破短網址偽裝、iMessage 引流與木馬病毒簡訊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165 AI 智能多模態防詐騙鑑識系統  •  專題成果簡報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783080"/>
            <a:ext cx="118872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755648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JhengHei"/>
              </a:rPr>
              <a:t>Step 1: 發送者與通道審查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475569"/>
                </a:solidFill>
                <a:latin typeface="Arial"/>
              </a:rPr>
              <a:t>Identity &amp; Channel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755648"/>
            <a:ext cx="6035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檢驗是否冒名公家機關、銀行信貸（如永豐貸）、黑貓宅急便，或使用中國網易免費信箱 (@126.com) 群發 iMessage。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96896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734056"/>
            <a:ext cx="118872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706624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JhengHei"/>
              </a:rPr>
              <a:t>Step 2: 網域與短網址解構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475569"/>
                </a:solidFill>
                <a:latin typeface="Arial"/>
              </a:rPr>
              <a:t>Domain &amp; Redirect Forensics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706624"/>
            <a:ext cx="6035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實時展開短網址轉址目標；識破斜線路徑偽裝 (t.ly/mvdis.gov.tw)、高風險頂級網域 (.top/.vip) 與停用縮網址 (goo.gl)。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4787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685032"/>
            <a:ext cx="11887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657600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JhengHei"/>
              </a:rPr>
              <a:t>Step 3: 心理操控話術拆解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475569"/>
                </a:solidFill>
                <a:latin typeface="Arial"/>
              </a:rPr>
              <a:t>Psychological Tactics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657600"/>
            <a:ext cx="6035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標記「親友比賽拉票人情綁架」、「裝熟認親 (你把我刪了嗎/加下我 L1ne)」、「通訊錄跳板直呼真名傳聚會照片」。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98848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636008"/>
            <a:ext cx="118872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608576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JhengHei"/>
              </a:rPr>
              <a:t>Step 4: 危險行為與木馬辨識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475569"/>
                </a:solidFill>
                <a:latin typeface="Arial"/>
              </a:rPr>
              <a:t>Dangerous Action &amp; Malware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608576"/>
            <a:ext cx="6035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鎖定「回復 1 啟動連結解鎖」、「誘導加私人 LINE ID」、「輸入 LINE 帳密與 OTP」、「下載 APK 木馬盜刷小額付費」。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49824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5586984"/>
            <a:ext cx="11887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559552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Microsoft JhengHei"/>
              </a:rPr>
              <a:t>Step 5: 綜合風險評估與對策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475569"/>
                </a:solidFill>
                <a:latin typeface="Arial"/>
              </a:rPr>
              <a:t>Risk Rating &amp; Actionable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559552"/>
            <a:ext cx="6035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輸出量化風險值 (0~100 分)，生成「切勿回覆 1 / 切勿加 LINE / 關閉電信小額付費 / 回報垃圾訊息」之具體處置指引。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Microsoft JhengHei"/>
              </a:rPr>
              <a:t>PROJECT HIGHLIGHT  |  MULTI-MODAL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Microsoft JhengHei"/>
              </a:rPr>
              <a:t>三層式高可用視覺 OCR 與多模態截圖鑑識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結合 Gemini Vision 與本地端 RapidOCR ONNX 神經網路，徹底根治 API 配額上限 (HTTP 429)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165 AI 智能多模態防詐騙鑑識系統  •  專題成果簡報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Microsoft JhengHei"/>
              </a:rPr>
              <a:t>🖼️ 1. 影像最佳化前處理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LANCZOS 1000px 自適應縮放：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  將高解析長截圖等比例壓縮並轉為輕量 JPEG，既保留網址與小字清晰度，又大幅降低傳輸延遲。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跨平台格式相容：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  完整支援網頁拖曳上傳 (PNG / JPG / JPEG) 與 LINE 聊天室圖片訊息即時下載解析。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2880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Microsoft JhengHei"/>
              </a:rPr>
              <a:t>👁️ 2. 三層式高可用 OCR 架構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• 第一層：Gemini Vision 多模型調度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  依序調用 gemini-2.0-flash、flash-lite、1.5-flash 與 2.5-flash。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• 第二層：本地端 RapidOCR 神經網路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  內建 ONNX Runtime 離線 OCR 引擎，免 API Key、零配額限制 (&lt;0.8秒)，完美免疫 HTTP 429 配額耗盡問題！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• 第三層：多語系雲端 OCR 自動備援。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82880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Microsoft JhengHei"/>
              </a:rPr>
              <a:t>⚡ 3. 實戰截圖鑑識場景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• 假親友比賽投票截圖：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  秒抓圖中 t5.clsuenfd5.top 釣魚網址與「幫我投14號」盜號話術。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• iMessage 垃圾簡訊截圖：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  精準讀取「永豐貸、加下我 L1ne、內部漲停票」與「回報垃圾訊息」提示。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• 木馬病毒簡訊與臨櫃教戰圖：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  100% 攔截 goo.gl 假包裹簽收單與欺瞞行員教戰守則。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Microsoft JhengHei"/>
              </a:rPr>
              <a:t>PROJECT HIGHLIGHT  |  FALSE-POSITIVE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Microsoft JhengHei"/>
              </a:rPr>
              <a:t>180+ 台灣官方網域白名單與實時短網址展開核驗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杜絕「狼來了」效應：結合 TWNIC 官方網域驗證、301/302 轉址追蹤與公開短網址攔截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165 AI 智能多模態防詐騙鑑識系統  •  專題成果簡報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45309"/>
                </a:solidFill>
                <a:latin typeface="Microsoft JhengHei"/>
              </a:rPr>
              <a:t>⚠️ 防詐 AI 的兩難挑戰：如何同時「放行合法官方短網址」並「攔截偽裝短網址」？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本系統獨創【實時 HTTP 轉址追蹤 + 180+ 合法網域白名單 + 斜線路徑偽裝檢測】：對台哥大 (twm5g.co) 自動展開確認跳轉至 oppay.tw 安全放行；對公開免洗短網址 (goo.gl / bit.ly / t.ly/mvdis.gov.tw) 則嚴格拒絕白名單豁免並重罰！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3154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🏦 金融銀行與人壽保險 (60+)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30+ 金控銀行：cathaybk.com.tw、fubon.com、ctbcbank.com、esunbank.com.tw 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人壽保險官網：法國巴黎人壽 (cardif.com.tw)、國泰/南山/新光/台灣人壽等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📌 保單通知與官方活動精準判為安全 (5分)。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97180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3108960"/>
            <a:ext cx="3154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📡 電信、電商、交通與民生 (80+)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四大電信與短網址：cht.tw、twm5g.co、twm.tw、oppay.tw、fet.tw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電商外送售票：shopee.tw、sho.pe、momo.dm、fdp.li、kktix.cc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民生物流：taipower.com.tw、黑貓 (t-cat.com.tw)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297180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3108960"/>
            <a:ext cx="3154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🏛️ TWNIC 審核網域與防偽邊界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台灣官方後綴：*.gov.tw、*.edu.tw、*.org.tw、*.com.tw、*.net.tw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嚴格邊界檢查：必須位於第一個斜線「/」之前的主機名稱結尾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📌 徹底識破 t.ly/mvdis.gov.tw 偽裝路徑！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Microsoft JhengHei"/>
              </a:rPr>
              <a:t>PROJECT HIGHLIGHT  |  KNOWLEDGE BASE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Microsoft JhengHei"/>
              </a:rPr>
              <a:t>165 專家防詐知識庫與新型態詐騙全覆蓋 (RAG)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收錄 15+ 高發犯罪套路與最新實戰變種，動態注入 CoT 鑑識上下文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165 AI 智能多模態防詐騙鑑識系統  •  專題成果簡報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5120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📚 台灣高發與最新實戰詐騙手法全覆蓋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1. 惡意木馬病毒簡訊 (假黑貓包裹簽收單 / 假聚會照片 + goo.gl)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2. 假冒政府監理站/水電催繳 (t.ly/mvdis.gov.tw + 回復 1 解鎖)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3. 假親友比賽拉票釣魚盜號 (小朋友繪畫比賽幫投14號 + .top)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4. iMessage 垃圾簡訊引流 (假永豐貸 / 裝熟加 L1ne / 內部漲停票)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5. 假投資理財 / 飆股群組 / 臨櫃匯款說謊教戰守則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6. 假冒公務機構 (地檢署/警察局/健保卡鎖卡監管帳戶)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7. 解除分期付款 / 偽冒知名品牌免費信箱 (@yahoo.co.jp)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8. 假求職兼職 / 騙取存摺提款卡人頭帳戶 / 資金流水代收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9. 猜猜我是誰 / 假冒親友車禍急借錢 / AI 語音換臉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10. Web3 虛擬貨幣空投釣魚 / 惡意無限授權合約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05937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66344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🔍 知識庫多維結構化檢索標籤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犯罪套路劇本 (Pattern &amp; Attack Chain)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觸發關鍵字與變形字庫 (如 L1ne、投.貲、賴我)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網域與發信通道特徵 (.top/.vip、@126.com、goo.gl)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心理操控戰術標籤 (通訊錄跳板、人情綁架、時間施壓)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77639"/>
            <a:ext cx="5059375" cy="2148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466344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9669"/>
                </a:solidFill>
                <a:latin typeface="Microsoft JhengHei"/>
              </a:rPr>
              <a:t>🛡️ 客製化精準防護處置 SOP</a:t>
            </a:r>
          </a:p>
          <a:p>
            <a:pPr algn="l">
              <a:spcAft>
                <a:spcPts val="400"/>
              </a:spcAft>
            </a:pPr>
            <a:r>
              <a:rPr sz="980" b="0">
                <a:solidFill>
                  <a:srgbClr val="0F172A"/>
                </a:solidFill>
                <a:latin typeface="Microsoft JhengHei"/>
              </a:rPr>
              <a:t>• 針對木馬簡訊：指導立即開啟飛航模式、致電電信商關閉「小額付費代收」。</a:t>
            </a:r>
          </a:p>
          <a:p>
            <a:pPr algn="l">
              <a:spcAft>
                <a:spcPts val="400"/>
              </a:spcAft>
            </a:pPr>
            <a:r>
              <a:rPr sz="980" b="0">
                <a:solidFill>
                  <a:srgbClr val="0F172A"/>
                </a:solidFill>
                <a:latin typeface="Microsoft JhengHei"/>
              </a:rPr>
              <a:t>• 針對 iMessage 釣魚：指導切勿回覆 1、開啟「過濾未知寄件人」並回報垃圾訊息。</a:t>
            </a:r>
          </a:p>
          <a:p>
            <a:pPr algn="l">
              <a:spcAft>
                <a:spcPts val="400"/>
              </a:spcAft>
            </a:pPr>
            <a:r>
              <a:rPr sz="980" b="0">
                <a:solidFill>
                  <a:srgbClr val="0F172A"/>
                </a:solidFill>
                <a:latin typeface="Microsoft JhengHei"/>
              </a:rPr>
              <a:t>• 針對親友拉票盜號：指導絕對不可輸入 LINE 帳密與簡訊 OTP 認證碼。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Microsoft JhengHei"/>
              </a:rPr>
              <a:t>PROJECT HIGHLIGHT  |  BENCHMARK &amp; SCIENTIFIC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Microsoft JhengHei"/>
              </a:rPr>
              <a:t>黃金基準測試與真實案例實測驗證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20 筆對抗測試集 + 多組真實世界新型釣魚/合法官網盲測，達成 100% 召回率與 0% 誤判率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165 AI 智能多模態防詐騙鑑識系統  •  專題成果簡報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514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563EB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475569"/>
                </a:solidFill>
                <a:latin typeface="Microsoft JhengHei"/>
              </a:rPr>
              <a:t>基準測試準確率</a:t>
            </a:r>
          </a:p>
          <a:p>
            <a:pPr algn="ctr">
              <a:spcAft>
                <a:spcPts val="400"/>
              </a:spcAft>
            </a:pPr>
            <a:r>
              <a:rPr sz="950" b="1">
                <a:solidFill>
                  <a:srgbClr val="475569"/>
                </a:solidFill>
                <a:latin typeface="Microsoft JhengHei"/>
              </a:rPr>
              <a:t>(20/20 筆完全命中)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6459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1737360"/>
            <a:ext cx="2514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Arial"/>
              </a:rPr>
              <a:t>&lt; 1.5s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22402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475569"/>
                </a:solidFill>
                <a:latin typeface="Microsoft JhengHei"/>
              </a:rPr>
              <a:t>本地 OCR + 鑑識延遲</a:t>
            </a:r>
          </a:p>
          <a:p>
            <a:pPr algn="ctr">
              <a:spcAft>
                <a:spcPts val="400"/>
              </a:spcAft>
            </a:pPr>
            <a:r>
              <a:rPr sz="950" b="1">
                <a:solidFill>
                  <a:srgbClr val="475569"/>
                </a:solidFill>
                <a:latin typeface="Microsoft JhengHei"/>
              </a:rPr>
              <a:t>(RapidOCR 極速響應)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459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737360"/>
            <a:ext cx="2514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2402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475569"/>
                </a:solidFill>
                <a:latin typeface="Microsoft JhengHei"/>
              </a:rPr>
              <a:t>新型釣魚攔截率</a:t>
            </a:r>
          </a:p>
          <a:p>
            <a:pPr algn="ctr">
              <a:spcAft>
                <a:spcPts val="400"/>
              </a:spcAft>
            </a:pPr>
            <a:r>
              <a:rPr sz="950" b="1">
                <a:solidFill>
                  <a:srgbClr val="475569"/>
                </a:solidFill>
                <a:latin typeface="Microsoft JhengHei"/>
              </a:rPr>
              <a:t>(木馬/投票/監理站/L1ne)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459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3688" y="1737360"/>
            <a:ext cx="25146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Arial"/>
              </a:rPr>
              <a:t>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2402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475569"/>
                </a:solidFill>
                <a:latin typeface="Microsoft JhengHei"/>
              </a:rPr>
              <a:t>合法官網誤判率</a:t>
            </a:r>
          </a:p>
          <a:p>
            <a:pPr algn="ctr">
              <a:spcAft>
                <a:spcPts val="400"/>
              </a:spcAft>
            </a:pPr>
            <a:r>
              <a:rPr sz="950" b="1">
                <a:solidFill>
                  <a:srgbClr val="475569"/>
                </a:solidFill>
                <a:latin typeface="Microsoft JhengHei"/>
              </a:rPr>
              <a:t>(台哥大/巴黎人壽/蝦皮)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54680"/>
            <a:ext cx="52120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291840"/>
            <a:ext cx="475488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DC2626"/>
                </a:solidFill>
                <a:latin typeface="Microsoft JhengHei"/>
              </a:rPr>
              <a:t>🚨 真實新型詐騙攔截實測 (100% 檢出)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• 假親友繪畫比賽拉票 (t5.clsuenfd5.top) ➔ 96/100 極度危險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• 假監理站罰單路徑偽裝 (t.ly/mvdis.gov.tw) ➔ 96/100 極度危險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• 木馬病毒簡訊 (黑貓簽收單/聚會照片 goo.gl) ➔ 96/100 極度危險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• iMessage 假信貸/裝熟 L1ne/漲停票截圖 ➔ 95/100 極度危險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• 境外 @126.com 信箱裝熟加 LINE (q09166) ➔ 93/100 極度危險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154680"/>
            <a:ext cx="52120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291840"/>
            <a:ext cx="475488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59669"/>
                </a:solidFill>
                <a:latin typeface="Microsoft JhengHei"/>
              </a:rPr>
              <a:t>🟢 真實合法官方網站放行實測 (0% 誤判)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• 台灣大哥大官方短網址 (https://twm5g.co/6hR3Is)：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  實時追蹤轉址至 dcb.oppay.tw ➔ 5/100 安全 (官方活動通知)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• 法國巴黎人壽官網 (https://life.cardif.com.tw/a311)：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  匹配人壽白名單與 .com.tw 官方網域 ➔ 5/100 安全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F172A"/>
                </a:solidFill>
                <a:latin typeface="Microsoft JhengHei"/>
              </a:rPr>
              <a:t>• 蝦皮購物官方免運短網址 (https://sho.pe/...) ➔ 5/100 安全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Microsoft JhengHei"/>
              </a:rPr>
              <a:t>PROJECT HIGHLIGHT  |  CLOUD DEPLOYMENT &amp;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Microsoft JhengHei"/>
              </a:rPr>
              <a:t>多端雲端部署與展示平台升級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Streamlit 狀態持久化互動工作台 ＋ 支援文字與截圖鑑識之 LINE 官方防詐機器人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165 AI 智能多模態防詐騙鑑識系統  •  專題成果簡報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💻 1. Streamlit 互動工作台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雲端網址：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https://165-anti-scam-ai.streamlit.app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最新工程升級：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- Session State 狀態持久化綁定，解決範例載入與按鈕觸發刷新問題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- 內建 RapidOCR 支援離線截圖秒級解析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- 即時風險儀表盤、破綻標註與 165 知識庫即時檢索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82880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📱 2. LINE 官方防詐機器人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一鍵加入好友連結：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https://line.me/R/ti/p/@325readm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(官方帳號 ID：@325readm)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雙模態支援 (文字 + 圖片)：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- 支援直接轉傳可疑簡訊與網址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- 支援直接傳送「對話截圖/簡訊圖片」，自動下載並執行 OCR 鑑識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- Render 雲端 24/7 全天候值守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82880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🛠️ 3. 本地開發與 CI/CD 自動化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一鍵自動化工具鏈：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- 啟動網頁介面.bat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- 啟動LINE機器人.bat / ngrok.bat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- push_to_github.py 一鍵同步工具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GitHub CI/CD 持續交付：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代碼推送後自動觸發 Streamlit Cloud 與 Render 雲端重新建置，零停機熱更新。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Microsoft JhengHei"/>
              </a:rPr>
              <a:t>PROJECT HIGHLIGHT  |  HIGHLIGHTS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Microsoft JhengHei"/>
              </a:rPr>
              <a:t>專題核心亮點與創新價值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從演算法創新、三層高可用視覺架構到社會防詐價值的全面突破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165 AI 智能多模態防詐騙鑑識系統  •  專題成果簡報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🚀 1. 永不掉線的三層式多模態鑑識架構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結合 Gemini Vision、本地端 RapidOCR ONNX 神經網路與雲端 OCR 備援，徹底解決免費 API 配額耗盡 (HTTP 429) 與雲端限流 (HTTP 503) 問題，確保網頁與 LINE 機器人 100% 全時可辨識截圖。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783080"/>
            <a:ext cx="484632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9669"/>
                </a:solidFill>
                <a:latin typeface="Microsoft JhengHei"/>
              </a:rPr>
              <a:t>🔍 2. 深度拆解台灣最新變種詐騙手法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精準識破「t.ly/mvdis.gov.tw 斜線路徑偽裝」、「回復 1 啟動連結解鎖」、「goo.gl 木馬病毒簡訊盜刷小額付費」、「繪畫比賽拉票盜號」與「iMessage 變形字 L1ne 引流」，提供量身定做的止血對策。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4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84632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Microsoft JhengHei"/>
              </a:rPr>
              <a:t>🛡️ 3. 180+ 官方白名單與實時短網址展開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內建台灣政府、30+ 金控銀行、人壽保險、四大電信與主流電商共 180+ 信任網域，搭配 HTTP 轉址追蹤，在黃金基準與真實官網測試中達成 0% 誤判率 (0% FPR)。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97764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4114800"/>
            <a:ext cx="484632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  <a:latin typeface="Microsoft JhengHei"/>
              </a:rPr>
              <a:t>🌐 4. 普惠科技與跨平台零門檻守護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提供免安裝 App 的 LINE 官方機器人 (@325readm，支援點擊連結或掃碼加入) 與 Streamlit 雲端工作台，並將 Llama-3 QLoRA 權重開源至 Hugging Face，實質守護全民財產安全。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457200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Microsoft JhengHei"/>
              </a:rPr>
              <a:t>🔮 FUTURE ROADMAP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未來展望與問答 (Future Roadmap &amp; Q&amp;A)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31546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Microsoft JhengHei"/>
              </a:rPr>
              <a:t>🎙️ 1. 語音通話 Deepfake 活體防偽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擴展至音訊多模態鑑識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即時偵測 AI 變聲與假檢警恐嚇語氣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結合電話端即時轉錄與語意 CoT 鑑識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874519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7136" y="2011680"/>
            <a:ext cx="31546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Microsoft JhengHei"/>
              </a:rPr>
              <a:t>🤖 2. 主動反釣魚 AI 蜜罐代理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部署 Autonomous Agent 扮演受害人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主動與詐團周旋拖延時間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自動套取人頭帳戶與惡意 APK 樣本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874519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2011680"/>
            <a:ext cx="31546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Microsoft JhengHei"/>
              </a:rPr>
              <a:t>📱 3. NPU 邊緣離線端側整合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將 4-bit 模型與 RapidOCR 封裝至手機 NPU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實現無網路環境下簡訊與畫面秒級攔截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E2E8F0"/>
                </a:solidFill>
                <a:latin typeface="Microsoft JhengHei"/>
              </a:rPr>
              <a:t>• 確保民眾通訊隱私 100% 不外洩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🛡️ 感謝各位教授與評審委員的聆聽！</a:t>
            </a:r>
          </a:p>
          <a:p>
            <a:pPr algn="ctr"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線上體驗：https://165-anti-scam-ai.streamlit.app   •   LINE 機器人：https://line.me/R/ti/p/@325readm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CD34D"/>
                </a:solidFill>
                <a:latin typeface="Microsoft JhengHei"/>
              </a:rPr>
              <a:t>誠摯歡迎提問與指導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