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594360"/>
            <a:ext cx="5303520" cy="438912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C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34D399"/>
                </a:solidFill>
                <a:latin typeface="Microsoft JhengHei"/>
              </a:rPr>
              <a:t>📱 165 AI 智能通訊守護解決方案 ｜ 獨立專題成果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777240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FFFFFF"/>
                </a:solidFill>
                <a:latin typeface="Microsoft JhengHei"/>
              </a:rPr>
              <a:t>LINE 官方防詐機器人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38BDF8"/>
                </a:solidFill>
                <a:latin typeface="Arial"/>
              </a:rPr>
              <a:t>全時守護・零門檻轉傳鑑識・秒級拆解詐騙話術的口袋防詐智囊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697480"/>
            <a:ext cx="1828800" cy="22402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C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16459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⚡ 秒級非同步鑑識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37560"/>
            <a:ext cx="164592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Microsoft JhengHei"/>
              </a:rPr>
              <a:t>• FastAPI + Uvicorn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Microsoft JhengHei"/>
              </a:rPr>
              <a:t>• &lt; 3 秒極速推播卡片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06624" y="2697480"/>
            <a:ext cx="1828800" cy="22402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C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98064" y="2834640"/>
            <a:ext cx="16459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👵 零門檻轉傳體驗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98064" y="3337560"/>
            <a:ext cx="164592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Microsoft JhengHei"/>
              </a:rPr>
              <a:t>• 一鍵轉傳可疑簡訊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Microsoft JhengHei"/>
              </a:rPr>
              <a:t>• 免安裝 App、免註冊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81728" y="2697480"/>
            <a:ext cx="1828800" cy="22402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C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73168" y="2834640"/>
            <a:ext cx="16459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🧠 165 RAG + CoT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73168" y="3337560"/>
            <a:ext cx="164592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Microsoft JhengHei"/>
              </a:rPr>
              <a:t>• 15 大詐騙套路檢索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Microsoft JhengHei"/>
              </a:rPr>
              <a:t>• 五步思維鏈拆解話術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56832" y="2697480"/>
            <a:ext cx="1828800" cy="22402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C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48272" y="2834640"/>
            <a:ext cx="16459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🛡️ 台灣網域白名單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48272" y="3337560"/>
            <a:ext cx="164592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Microsoft JhengHei"/>
              </a:rPr>
              <a:t>• 三大電信/主流電商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Microsoft JhengHei"/>
              </a:rPr>
              <a:t>• 達成 0% 誤判率 (FPR)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166360"/>
            <a:ext cx="777240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🎯 核心技術：FastAPI ｜ pyngrok 外網穿透 ｜ HMAC-SHA256 簽章驗證 ｜ 165 RAG 鑑識引擎</a:t>
            </a:r>
          </a:p>
          <a:p>
            <a:pPr algn="l">
              <a:spcAft>
                <a:spcPts val="400"/>
              </a:spcAft>
            </a:pPr>
            <a:r>
              <a:rPr sz="1050" b="1">
                <a:solidFill>
                  <a:srgbClr val="38BDF8"/>
                </a:solidFill>
                <a:latin typeface="Arial"/>
              </a:rPr>
              <a:t>🌐 開源專案：alex0647/165-anti-scam-llama3-lora   •   支援 LINE Webhook 即時事件回調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78240" y="1188720"/>
            <a:ext cx="2681935" cy="493776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6C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15400" y="1371600"/>
            <a:ext cx="240761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📱 手機掃碼立即體驗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34D399"/>
                </a:solidFill>
                <a:latin typeface="Microsoft JhengHei"/>
              </a:rPr>
              <a:t>加入「165 AI 防詐守門員」</a:t>
            </a:r>
          </a:p>
        </p:txBody>
      </p:sp>
      <p:pic>
        <p:nvPicPr>
          <p:cNvPr id="19" name="Picture 18" descr="line_qr_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5128" y="2103120"/>
            <a:ext cx="2194560" cy="2194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915400" y="4434840"/>
            <a:ext cx="2407615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>
                <a:solidFill>
                  <a:srgbClr val="E2E8F0"/>
                </a:solidFill>
                <a:latin typeface="Microsoft JhengHei"/>
              </a:rPr>
              <a:t>✨ 支援文字/簡訊轉傳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E2E8F0"/>
                </a:solidFill>
                <a:latin typeface="Microsoft JhengHei"/>
              </a:rPr>
              <a:t>✨ 3 秒推播結構化卡片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E2E8F0"/>
                </a:solidFill>
                <a:latin typeface="Microsoft JhengHei"/>
              </a:rPr>
              <a:t>✨ 24 小時全自動值守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59669"/>
                </a:solidFill>
                <a:latin typeface="Microsoft JhengHei"/>
              </a:rPr>
              <a:t>LINE BOT SOLUTION  |  BACKGROUND &amp;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開發背景：台灣通訊詐騙現況與痛點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為什麼選擇 LINE 作為 AI 防詐守門員的第一道實戰戰線？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165 AI 智能 LINE 官方防詐機器人  •  專題成果簡報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059669"/>
                </a:solidFill>
                <a:latin typeface="Microsoft JhengHei"/>
              </a:rPr>
              <a:t>2 /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783080"/>
            <a:ext cx="475488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DC2626"/>
                </a:solidFill>
                <a:latin typeface="Microsoft JhengHei"/>
              </a:rPr>
              <a:t>📱 痛點 1：LINE 為台灣詐騙最密集的主戰場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台灣 LINE 滲透率超過 95% (2,100 萬活躍用戶)。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詐團從簡訊、臉書大量引導被害人「加 LINE 假投資、私下交易、假冒親友」，封閉式對話極難被外界即時攔截。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77639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114800"/>
            <a:ext cx="475488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DC2626"/>
                </a:solidFill>
                <a:latin typeface="Microsoft JhengHei"/>
              </a:rPr>
              <a:t>👵 痛點 2：高齡長輩的數位求助落差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銀髮長輩不會下載專用 App，也不習慣在電腦網頁逐字貼上簡訊查證。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遇到緊急催繳、凍結帳戶話術時容易陷入恐慌，缺乏隨手可得的查證工具。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645920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783080"/>
            <a:ext cx="475488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D97706"/>
                </a:solidFill>
                <a:latin typeface="Microsoft JhengHei"/>
              </a:rPr>
              <a:t>⏳ 痛點 3：傳統 165 人工查證存在等待時間差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撥打 165 反詐專線常需排隊等待，搜尋引擎結果眾說紛紜。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詐團利用「限時 15 分鐘匯款、偵查不公開」施壓，被害人常在求證前便已轉帳。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977639"/>
            <a:ext cx="5212080" cy="214884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4114800"/>
            <a:ext cx="475488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059669"/>
                </a:solidFill>
                <a:latin typeface="Microsoft JhengHei"/>
              </a:rPr>
              <a:t>💡 LINE Bot 解決方案：把 165 專家裝進口袋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無需安裝額外軟體：利用日常熟悉的 LINE 轉傳功能。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• 24 小時全自動秒級鑑識：5 秒內提供量化風險分與避險 SOP，立即阻斷受騙念頭。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59669"/>
                </a:solidFill>
                <a:latin typeface="Microsoft JhengHei"/>
              </a:rPr>
              <a:t>LINE BOT SOLUTION  |  PRODUCT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產品定位：三步驟極簡防詐體驗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專為全民及銀髮族群設計，真正實現「零學習門檻、轉傳即查證」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165 AI 智能 LINE 官方防詐機器人  •  專題成果簡報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059669"/>
                </a:solidFill>
                <a:latin typeface="Microsoft JhengHei"/>
              </a:rPr>
              <a:t>3 /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342900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645920"/>
            <a:ext cx="3429000" cy="4114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PHASE 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94560"/>
            <a:ext cx="31546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Microsoft JhengHei"/>
              </a:rPr>
              <a:t>Step 1: 一鍵轉傳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475569"/>
                </a:solidFill>
                <a:latin typeface="Arial"/>
              </a:rPr>
              <a:t>Forward Message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926080"/>
            <a:ext cx="315468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收到可疑 LINE 投資訊息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收到催繳水電/網購簡訊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直接點擊「轉傳」給機器人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無需打字、無操作門檻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9976" y="1645920"/>
            <a:ext cx="342900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9976" y="1645920"/>
            <a:ext cx="3429000" cy="41148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PHASE 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7136" y="2194560"/>
            <a:ext cx="31546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Microsoft JhengHei"/>
              </a:rPr>
              <a:t>Step 2: 秒級 AI 鑑識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475569"/>
                </a:solidFill>
                <a:latin typeface="Arial"/>
              </a:rPr>
              <a:t>Real-Time AI Forensic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7136" y="2926080"/>
            <a:ext cx="315468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FastAPI 接收 Webhook 事件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165 知識庫特徵比對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CoT 五步思維鏈推理拆解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台灣網域白名單交叉過濾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8432" y="1645920"/>
            <a:ext cx="342900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28432" y="1645920"/>
            <a:ext cx="342900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PHASE 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65592" y="2194560"/>
            <a:ext cx="31546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Microsoft JhengHei"/>
              </a:rPr>
              <a:t>Step 3: 結構化卡片防護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475569"/>
                </a:solidFill>
                <a:latin typeface="Arial"/>
              </a:rPr>
              <a:t>Actionable Guidance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65592" y="2926080"/>
            <a:ext cx="315468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3 秒內推播清晰直式卡片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顯示量化風險分 (0~100)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破綻標註與心理話術剖析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給予「即時安全回覆話術」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257800"/>
            <a:ext cx="10728655" cy="9601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5349240"/>
            <a:ext cx="1024128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059669"/>
                </a:solidFill>
                <a:latin typeface="Microsoft JhengHei"/>
              </a:rPr>
              <a:t>🌟 普惠價值亮點：免下載 App ｜ 免註冊帳號 ｜ 加入好友即刻守護 ｜ 全天候 24 小時守護全家通訊安全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59669"/>
                </a:solidFill>
                <a:latin typeface="Microsoft JhengHei"/>
              </a:rPr>
              <a:t>LINE BOT SOLUTION  |  TECHNICAL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LINE Bot 系統總體架構與工作流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FastAPI 高併發服務 + LINE Messaging API + 165 RAG 鑑識引擎端到端閉環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165 AI 智能 LINE 官方防詐機器人  •  專題成果簡報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059669"/>
                </a:solidFill>
                <a:latin typeface="Microsoft JhengHei"/>
              </a:rPr>
              <a:t>4 /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1993392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645920"/>
            <a:ext cx="1993392" cy="4114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NODE 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148840"/>
            <a:ext cx="181051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1. 使用者終端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Arial"/>
              </a:rPr>
              <a:t>LINE App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926080"/>
            <a:ext cx="1810512" cy="3017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手機/桌面端 LINE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轉傳可疑文字簡訊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觸發 Webhook 事件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07792" y="1645920"/>
            <a:ext cx="1993392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07792" y="1645920"/>
            <a:ext cx="1993392" cy="41148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NODE 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99232" y="2148840"/>
            <a:ext cx="181051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2. 官方 API 閘道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Arial"/>
              </a:rPr>
              <a:t>Messaging 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9232" y="2926080"/>
            <a:ext cx="1810512" cy="3017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LINE Platform 閘道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HTTPS Webhook 轉發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攜帶 X-Line 簽章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84064" y="1645920"/>
            <a:ext cx="1993392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84064" y="1645920"/>
            <a:ext cx="1993392" cy="4114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NODE 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75504" y="2148840"/>
            <a:ext cx="181051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3. Webhook 伺服器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Arial"/>
              </a:rPr>
              <a:t>FastAPI + ngrok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75504" y="2926080"/>
            <a:ext cx="1810512" cy="3017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HMAC-SHA256 驗證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非同步非阻塞處理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封裝 InputPayload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60336" y="1645920"/>
            <a:ext cx="1993392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60336" y="1645920"/>
            <a:ext cx="1993392" cy="4114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NODE 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51776" y="2148840"/>
            <a:ext cx="181051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4. AI 鑑識核心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Arial"/>
              </a:rPr>
              <a:t>Forensic Engine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51776" y="2926080"/>
            <a:ext cx="1810512" cy="3017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165 知識庫 (RAG)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CoT 五步思維鏈推理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台灣在地網域白名單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436608" y="1645920"/>
            <a:ext cx="1993392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436608" y="1645920"/>
            <a:ext cx="1993392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NODE 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28048" y="2148840"/>
            <a:ext cx="181051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5. 結構化回傳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Arial"/>
              </a:rPr>
              <a:t>Reply Gateway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28048" y="2926080"/>
            <a:ext cx="1810512" cy="3017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format_line_response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四色風險燈號卡片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3 秒內推播至用戶端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59669"/>
                </a:solidFill>
                <a:latin typeface="Microsoft JhengHei"/>
              </a:rPr>
              <a:t>LINE BOT SOLUTION  |  FORENSIC CARD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手機螢幕專屬：結構化鑑識卡片設計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針對手機直式螢幕優化，採用直覺清晰的四色風險燈號與模組化排版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165 AI 智能 LINE 官方防詐機器人  •  專題成果簡報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059669"/>
                </a:solidFill>
                <a:latin typeface="Microsoft JhengHei"/>
              </a:rPr>
              <a:t>5 /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521208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828800"/>
            <a:ext cx="475488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2563EB"/>
                </a:solidFill>
                <a:latin typeface="Microsoft JhengHei"/>
              </a:rPr>
              <a:t>🚦 四級風險燈號預警體系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🟢 0 ~ 30 分：【安全通知・非詐騙】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• 官方帳單、蝦皮/momo 優惠，安心點擊。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🟡 31 ~ 60 分：【低度疑慮・請提高警覺】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• 促銷話術較誇張，或來源不明之好友問候。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🟠 61 ~ 80 分：【中度風險・疑似詐騙陷阱】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• 含有模糊要求或短網址，切勿提供個資。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🔴 81 ~ 100 分：【極度危險・高機率詐騙】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• 假檢警公文、殺豬盤飆股、解除分期付款，立即封鎖！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645920"/>
            <a:ext cx="521208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828800"/>
            <a:ext cx="475488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2563EB"/>
                </a:solidFill>
                <a:latin typeface="Microsoft JhengHei"/>
              </a:rPr>
              <a:t>📋 結構化卡片四大核心模組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1. 📊 量化指標與類型標註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 • 顯示 0~100 分值與手法類別 (例如：假投資/殺豬盤)。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2. 🔍 鑑識論證與破綻標註 (Red Flags)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 • 逐條引用訊息原文，標明可疑破綻與嚴重程度。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3. 🧠 心理操控手法拆解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 • 標註「製造急迫感」、「權威施壓」、「群體跟風」。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4. 🛡️ 165 安全處置與防禦話術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 • 條列「🚨 切勿進行」與「📞 官方求證管道」。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   • 提供一鍵複製之「💬 建議安全防禦話術」。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59669"/>
                </a:solidFill>
                <a:latin typeface="Microsoft JhengHei"/>
              </a:rPr>
              <a:t>LINE BOT SOLUTION  |  AI FORENSIC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核心鑑識大腦技術整合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將 4-bit QLoRA 大模型、165 專家知識庫與網域白名單深度封裝至 LINE 端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165 AI 智能 LINE 官方防詐機器人  •  專題成果簡報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059669"/>
                </a:solidFill>
                <a:latin typeface="Microsoft JhengHei"/>
              </a:rPr>
              <a:t>6 /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83080"/>
            <a:ext cx="484632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🧠 1. Llama-3 4-bit QLoRA 領域微調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理解台灣詐騙語境與台式同音錯字（如「加賴」、「投貲」）。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經 165 劇本對話訓練，具備專業刑偵鑑識人員思維。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8095" y="1645920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30975" y="1783080"/>
            <a:ext cx="484632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📚 2. 165 專家 RAG 劇本知識庫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收錄 15 大高發犯罪套路劇本 (殺豬盤/假檢警/假網購)。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N-Gram 關鍵字加權檢索，動態注入 CoT 鑑識上下文。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977640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114800"/>
            <a:ext cx="484632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🔗 3. CoT 五步思維鏈可解釋性推理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依序審查：發送者身分 ➔ 誘餌威脅 ➔ 心理操控 ➔ 危險行為 ➔ 綜合決策。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拒絕黑箱判定，向民眾清楚解釋受騙原理。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48095" y="3977640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0975" y="4114800"/>
            <a:ext cx="484632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🛡️ 4. 台灣在地網域智能白名單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整合中華電信、台灣大哥大、遠傳電信、蝦皮、momo 與政府機構。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雙軌交叉驗證，徹底解決短網址誤判問題 (0% FPR)。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59669"/>
                </a:solidFill>
                <a:latin typeface="Microsoft JhengHei"/>
              </a:rPr>
              <a:t>LINE BOT SOLUTION  |  LIVE CASE DEMOS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LINE 實戰鑑識成果與對話示範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真實案例實測：精準識破新型變形詐騙，同時保障電信促銷零誤報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165 AI 智能 LINE 官方防詐機器人  •  專題成果簡報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059669"/>
                </a:solidFill>
                <a:latin typeface="Microsoft JhengHei"/>
              </a:rPr>
              <a:t>7 /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39319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73736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563EB"/>
                </a:solidFill>
                <a:latin typeface="Microsoft JhengHei"/>
              </a:rPr>
              <a:t>📱 實機對話鑑識展示 (圖4 實測)</a:t>
            </a:r>
          </a:p>
        </p:txBody>
      </p:sp>
      <p:pic>
        <p:nvPicPr>
          <p:cNvPr id="11" name="Picture 10" descr="line_chat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121408"/>
            <a:ext cx="3657600" cy="38862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4892040" y="1645920"/>
            <a:ext cx="6568135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74920" y="1783080"/>
            <a:ext cx="621792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DC2626"/>
                </a:solidFill>
                <a:latin typeface="Microsoft JhengHei"/>
              </a:rPr>
              <a:t>🔴 對抗案例一：投資飆股殺豬盤 (高風險檢出)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使用者輸入：「老師帶你翻倍賺！限時領取飆股明牌，加助理私 LINE: stock888」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🤖 鑑識結果：🔴 極度危險 (95 / 100 分)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破綻分析：辨識「翻倍賺」高額誘餌、「私 LINE」脫離監管，命中殺豬盤套路。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處置指引：切勿加賴匯款、立即封鎖並向 165 檢舉。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92040" y="3977639"/>
            <a:ext cx="6568135" cy="214884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74920" y="4114800"/>
            <a:ext cx="621792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59669"/>
                </a:solidFill>
                <a:latin typeface="Microsoft JhengHei"/>
              </a:rPr>
              <a:t>🟢 左圖實測解析：遠傳電信促銷簡訊 (白名單安全放行)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使用者輸入：「【在地限定!來遠傳門市免費請你吃霜淇淋】...速洽遠傳 fetnet.tw/...」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🤖 鑑識結果：🟢 安全通知 (5 / 100 分・正常訊息)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鑑識論證：經 165 AI 比對，命中遠傳官方網域 (fetnet.tw)，未出現惡意破綻。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防護效益：杜絕「狼來了」過度敏感，確保正常電信優惠不被誤殺 (0% FPR)。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59669"/>
                </a:solidFill>
                <a:latin typeface="Microsoft JhengHei"/>
              </a:rPr>
              <a:t>LINE BOT SOLUTION  |  QUICK START &amp;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一鍵快速啟動與實戰部署流程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雙擊批次檔即可於本機建立 Webhook 隧道並連接 LINE 官方平台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165 AI 智能 LINE 官方防詐機器人  •  專題成果簡報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059669"/>
                </a:solidFill>
                <a:latin typeface="Microsoft JhengHei"/>
              </a:rPr>
              <a:t>8 /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00200"/>
            <a:ext cx="521208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64208"/>
            <a:ext cx="493776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563EB"/>
                </a:solidFill>
                <a:latin typeface="Microsoft JhengHei"/>
              </a:rPr>
              <a:t>⚡ Action 01: 啟動伺服器 (啟動LINE機器人.bat)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雙擊批次檔，啟動 FastAPI 伺服器並監聽本機 Port 8000：</a:t>
            </a:r>
          </a:p>
        </p:txBody>
      </p:sp>
      <p:pic>
        <p:nvPicPr>
          <p:cNvPr id="11" name="Picture 10" descr="cmd_start_b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148840"/>
            <a:ext cx="4937760" cy="16002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217920" y="1600200"/>
            <a:ext cx="521208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664208"/>
            <a:ext cx="493776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563EB"/>
                </a:solidFill>
                <a:latin typeface="Microsoft JhengHei"/>
              </a:rPr>
              <a:t>🌐 Action 02: 建立外網穿透 (啟動LINE外網穿透.bat)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雙擊 pyngrok 產生安全的 HTTPS 隧道 Webhook 網址：</a:t>
            </a:r>
          </a:p>
        </p:txBody>
      </p:sp>
      <p:pic>
        <p:nvPicPr>
          <p:cNvPr id="14" name="Picture 13" descr="cmd_start_ngro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2148840"/>
            <a:ext cx="4937760" cy="160020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731520" y="3977639"/>
            <a:ext cx="52120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041648"/>
            <a:ext cx="493776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2563EB"/>
                </a:solidFill>
                <a:latin typeface="Microsoft JhengHei"/>
              </a:rPr>
              <a:t>⚙️ Action 03: 綁定 LINE Developers 後台 Webhook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貼上 Webhook URL，開啟【Use Webhook】並點擊【Verify】確認驗證成功：</a:t>
            </a:r>
          </a:p>
        </p:txBody>
      </p:sp>
      <p:pic>
        <p:nvPicPr>
          <p:cNvPr id="17" name="Picture 16" descr="line_webhook_setting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53712"/>
            <a:ext cx="4937760" cy="160020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6217920" y="3977639"/>
            <a:ext cx="5212080" cy="22860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line_qr_co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4114800"/>
            <a:ext cx="2011680" cy="20116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503920" y="4069080"/>
            <a:ext cx="2788920" cy="2103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59669"/>
                </a:solidFill>
                <a:latin typeface="Microsoft JhengHei"/>
              </a:rPr>
              <a:t>📱 Action 04: 掃碼實測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• 掃描左側 QR Code 加好友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• 一鍵轉傳任何文字/簡訊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• 3 秒內推播 165 卡片！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0F172A"/>
                </a:solidFill>
                <a:latin typeface="Microsoft JhengHei"/>
              </a:rPr>
              <a:t>• 雲端支援 Docker 容器化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59669"/>
                </a:solidFill>
                <a:latin typeface="Microsoft JhengHei"/>
              </a:rPr>
              <a:t>LINE BOT SOLUTION  |  SECURITY &amp; PRIVACY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安全架構與隱私防護機制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採用企業級安全校驗與個資去識別化，確保服務高可用與用戶隱私合規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165 AI 智能 LINE 官方防詐機器人  •  專題成果簡報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059669"/>
                </a:solidFill>
                <a:latin typeface="Microsoft JhengHei"/>
              </a:rPr>
              <a:t>9 /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83080"/>
            <a:ext cx="484632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🔒 1. HMAC-SHA256 簽章安全防偽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嚴格校驗 LINE 請求標頭 X-Line-Signature。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使用 Channel Secret 進行雜湊運算比對，杜絕惡意偽造 Webhook 攻擊。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8095" y="1645920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30975" y="1783080"/>
            <a:ext cx="484632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🛡️ 2. 對話隱私與個資去識別化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使用者對話僅於記憶體中進行即時推理，不進行敏感個資持久化存儲。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分析完成後自動脫敏，確保民眾通訊隱私不外洩。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977640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114800"/>
            <a:ext cx="484632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⚡ 3. FastAPI 非同步高併發架構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採用 Python 異步非阻塞 (Async/Await) 設計與 Uvicorn 伺服器。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具備毫秒級事件派發能力，輕鬆應對突發性大量轉傳鑑識請求。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48095" y="3977640"/>
            <a:ext cx="521208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0975" y="4114800"/>
            <a:ext cx="4846320" cy="1874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🌐 4. 靈活部署與生產環境適配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開發階段支援 pyngrok 動態外網穿透隧道。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0F172A"/>
                </a:solidFill>
                <a:latin typeface="Microsoft JhengHei"/>
              </a:rPr>
              <a:t>• 生產環境可一鍵容器化 (Docker) 部署於雲端 PaaS/K8s 平台，支援 7x24 高可用。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59669"/>
                </a:solidFill>
                <a:latin typeface="Microsoft JhengHei"/>
              </a:rPr>
              <a:t>LINE BOT SOLUTION  |  PERFORMANCE &amp;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效益量化評估與社會防護價值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569"/>
                </a:solidFill>
                <a:latin typeface="Microsoft JhengHei"/>
              </a:rPr>
              <a:t>以科技力量守護台灣家庭，構築全民防詐第一道數位防火牆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569"/>
                </a:solidFill>
                <a:latin typeface="Microsoft JhengHei"/>
              </a:rPr>
              <a:t>165 AI 智能 LINE 官方防詐機器人  •  專題成果簡報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059669"/>
                </a:solidFill>
                <a:latin typeface="Microsoft JhengHei"/>
              </a:rPr>
              <a:t>10 /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25146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2514600" cy="5486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2563EB"/>
                </a:solidFill>
                <a:latin typeface="Arial"/>
              </a:rPr>
              <a:t>&lt; 3.0 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331720"/>
            <a:ext cx="251460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475569"/>
                </a:solidFill>
                <a:latin typeface="Microsoft JhengHei"/>
              </a:rPr>
              <a:t>端到端平均響應延遲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65576" y="1645920"/>
            <a:ext cx="25146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65576" y="1737360"/>
            <a:ext cx="2514600" cy="5486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059669"/>
                </a:solidFill>
                <a:latin typeface="Arial"/>
              </a:rPr>
              <a:t>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65576" y="2331720"/>
            <a:ext cx="251460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475569"/>
                </a:solidFill>
                <a:latin typeface="Microsoft JhengHei"/>
              </a:rPr>
              <a:t>黃金基準測試準確率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2" y="1645920"/>
            <a:ext cx="25146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99632" y="1737360"/>
            <a:ext cx="2514600" cy="5486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059669"/>
                </a:solidFill>
                <a:latin typeface="Arial"/>
              </a:rPr>
              <a:t>0.0%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99632" y="2331720"/>
            <a:ext cx="251460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475569"/>
                </a:solidFill>
                <a:latin typeface="Microsoft JhengHei"/>
              </a:rPr>
              <a:t>正常商務簡訊誤判率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33688" y="1645920"/>
            <a:ext cx="25146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33688" y="1737360"/>
            <a:ext cx="2514600" cy="5486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059669"/>
                </a:solidFill>
                <a:latin typeface="Arial"/>
              </a:rPr>
              <a:t>2,100 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33688" y="2331720"/>
            <a:ext cx="251460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475569"/>
                </a:solidFill>
                <a:latin typeface="Microsoft JhengHei"/>
              </a:rPr>
              <a:t>台灣潛在覆蓋受眾人口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063240"/>
            <a:ext cx="521208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3200400"/>
            <a:ext cx="4754880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🛡️ 賦能長輩：消弭數位求助落差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徹底打破以往「遇到可疑簡訊不知道問誰」的孤立處境。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讓長輩在轉帳或受騙前，只要轉傳訊息，就能獲得 165 等級的專業客觀分析與心理撫平。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實質保護台灣民眾畢生積蓄與退休金金流安全。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3063240"/>
            <a:ext cx="521208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3200400"/>
            <a:ext cx="4754880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Microsoft JhengHei"/>
              </a:rPr>
              <a:t>👨‍👩‍👧 建立家庭防詐聯防網絡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機器人回覆提供「建議安全防禦話術」，方便使用者一鍵複製回傳給詐團。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強化年輕世代與長輩之間的信任感，共同築起堅固的家庭反詐防線。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• 為政府 165 與警政體系分流海量初階諮詢，大幅節省社會公帑成本。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594360"/>
            <a:ext cx="5303520" cy="438912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C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34D399"/>
                </a:solidFill>
                <a:latin typeface="Microsoft JhengHei"/>
              </a:rPr>
              <a:t>🔮 LINE BOT FUTURE ROADMAP &amp;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4300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Microsoft JhengHei"/>
              </a:rPr>
              <a:t>未來發展藍圖與問答 (Future Roadmap &amp; Q&amp;A)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74519"/>
            <a:ext cx="3429000" cy="2468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C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011680"/>
            <a:ext cx="315468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34D399"/>
                </a:solidFill>
                <a:latin typeface="Microsoft JhengHei"/>
              </a:rPr>
              <a:t>🎨 1. Flex Message 富媒體互動升級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導入 LINE Flex 卡片與快捷操作按鈕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支援「一鍵撥打 165」、「一鍵通報檢舉」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支援「一鍵分享鑑識報告給家人」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9976" y="1874519"/>
            <a:ext cx="3429000" cy="2468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C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17136" y="2011680"/>
            <a:ext cx="315468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34D399"/>
                </a:solidFill>
                <a:latin typeface="Microsoft JhengHei"/>
              </a:rPr>
              <a:t>🎙️ 2. LINE 語音訊息 AI 變聲活體鑑識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支援長輩轉傳 LINE 語音通話與錄音檔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即時偵測 AI 擬真變聲 (Voice Deepfake)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破解假冒兒女/親友借錢的新型語音詐騙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2" y="1874519"/>
            <a:ext cx="3429000" cy="2468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C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65592" y="2011680"/>
            <a:ext cx="315468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34D399"/>
                </a:solidFill>
                <a:latin typeface="Microsoft JhengHei"/>
              </a:rPr>
              <a:t>🛡️ 3. LINE 群組防詐守護者 (Group Guard)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支援受邀加入家庭群組與社區長輩群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主動偵測並攔截群組內的可疑假投資網址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E2E8F0"/>
                </a:solidFill>
                <a:latin typeface="Microsoft JhengHei"/>
              </a:rPr>
              <a:t>• 第一時間於群組內發出風險預警廣播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572000"/>
            <a:ext cx="8412480" cy="1645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C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709160"/>
            <a:ext cx="804672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🛡️ 感謝各位教授與評審委員的聆聽！</a:t>
            </a:r>
          </a:p>
          <a:p>
            <a:pPr algn="ctr">
              <a:spcAft>
                <a:spcPts val="400"/>
              </a:spcAft>
            </a:pPr>
            <a:r>
              <a:rPr sz="1100" b="1">
                <a:solidFill>
                  <a:srgbClr val="38BDF8"/>
                </a:solidFill>
                <a:latin typeface="Arial"/>
              </a:rPr>
              <a:t>LINE Bot 伺服器：FastAPI + LINE Messaging API ｜ 支援即時轉傳鑑識</a:t>
            </a:r>
          </a:p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CD34D"/>
                </a:solidFill>
                <a:latin typeface="Microsoft JhengHei"/>
              </a:rPr>
              <a:t>誠摯歡迎提問與指導 (Q&amp;A)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26880" y="4572000"/>
            <a:ext cx="2133295" cy="1645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C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ine_qr_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4645152"/>
            <a:ext cx="1188720" cy="11887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326880" y="5897880"/>
            <a:ext cx="213329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1">
                <a:solidFill>
                  <a:srgbClr val="34D399"/>
                </a:solidFill>
                <a:latin typeface="Microsoft JhengHei"/>
              </a:rPr>
              <a:t>📱 現場掃碼實機體驗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